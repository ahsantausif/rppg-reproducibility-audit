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This is our final project presentation for CSE754. Our project audits contactless heart-rate estimation, remote photoplethysmography or rPPG, for two things at once: does it stay accurate under different recording conditions, and can we trust the pipeline that produces that accuracy number in the first place. We'll walk through why this matters, the problem we targeted, our method, our results, one detailed failure case, and what we'd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sections as required by the course, but one continuous journey: why this matters, the gap we found in the literature, how we built and validated our pipeline, what we measured once it was trustworthy, and where that leaves us. Since we covered the motivation and the literature gap in depth during our proposal presentation, we'll move through the first two sections briskly today as a refresher rather than repeating them in full, and spend most of our time from Method onward, where the actual hands-on work lives: the pipeline we built, the data we ran, and the results we measured. We'll keep coming back to a single idea throughout: rigor about the pipeline is not separate from rigor about fairness or robustness, it's a precondition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 telehealth visit with no pulse oximeter, just the webcam. Software silently estimates heart rate from color changes in skin too small to see. That already works in the lab. What's unresolved is whether it works consistently outside the lab, across conditions, and reliably enough to trust. Prior audits show error roughly tripling between easy and hard conditions, from about 5 bpm to over 14 bpm. That gap motivates everything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the papers we reviewed, robustness work and fairness work never overlap on the same method. Even the most recent unsupervised state of the art has never been checked for consistency across conditions in a way that also questions whether the checking pipeline itself is trustworthy. That combination, robustness plus a rigor-first audit of the pipeline itself, is where we aimed our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upfront about scope rather than let it surface as a surprise question. The original plan targeted skin-tone fairness using MMPD and EquiPleth, both gated-access datasets we could not obtain in time. Rather than claim an audit we couldn't actually run, we applied the same standard of rigor to resting-versus-post-exercise, the one real condition contrast our obtained data supports. The three questions on screen, tied together as one connected line of inquiry, are what we actually 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pacing note: we covered motivation and the literature gap in our proposal talk, so we'll move fast through those and spend most of today from here on: the actual pipeline, data, and results. Six steps, shown as one connected thread since each depends on the last. Steps 1 to 3 are infrastructure: versioned environment, preprocessing, and a subject-independent split, by person, never by frame, so no model can cheat by learning a face. Step 4 is the real gate: reproduction against published numbers. We don't touch steps 5 and 6, our actual evaluation and failure diagnosis, until step 4 genuinely passes. That's what the rest of today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Twenty-two clips, pooled from both UBFC-rPPG releases: six from the original eight-subject set after excluding two for a duplicate-video issue, sixteen from the standard forty-two-subject benchmark the literature is measured against. We span both baseline families so our claims generalize: CHROM and POS, classical and training-free, and PhysNet under two pretrained checkpoints, one on UBFC-rPPG, one on PURE. Everything is inference-only; twenty-two clips is nowhere near enough to train from scratch without overfitting. Every number from here on is MAE and RMSE in bpm, computed per whole clip and always broken out by split, so it's directly comparable to the literature.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fix was verified by testing a rejected alternative, not accepted just because a number improved. The chart on the right is the strongest single piece of evidence: replacing the face detector alone cut error three to four times across every method. Worth flagging for anyone who's debugged a vision pipeline: none of these three bugs threw an exception or produced obviously broken output, they produced plausible numbers that were simply wrong. That's the failure mode that actually matters in this field, and it's why we treat implementation validation as inseparable from the science, not a formality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methods converge under 1.5 bpm error on the held-out test subjects. PhysNet, trained on an entirely different dataset and evaluated cross-dataset here, lands almost exactly on its published benchmark number, 1.62 against 1.63. That's not just close, it's within the kind of clip-level sampling noise you'd expect regardless, about as clean a reproduction as this field typically reports. This is the gate passing cleanly: the validated foundation everything after this builds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looked like an interesting anomaly at first, and we deliberately treated it as a signal to rule out a mundane bug before accepting an interesting explanation. We checked the checkpoint file wasn't swapped and checked our frame-rate handling, both clean. The real cause was a training-data mismatch, confirmed two independent ways: tracing source code and empirically re-testing on the correct domain, an eight-fold error reduction, 46.5 down to 5.8 bpm. The lesson generalizes well beyond our project: as more of the field adopts released pretrained checkpoints instead of training from scratch, a checkpoint's name is not proof of its training domain, and that exact gap is where a confident, wrong fairness or robustness claim would slip through unnoticed.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classical methods show a small but genuine gap between resting and post-exercise conditions, roughly three to seven bpm, post-exercise is modestly harder. Right, and more interesting: plot every method's per-subject error, and every method's worst failures land on a different subject. No subject is uniformly hard. Worth pausing on: a lot of robustness literature implicitly assumes some subjects are just inherently harder cases. Our data doesn't support that here; the residual error looks like each method's own instability, not a property of the person recorded, a distinction we lean on directly in the failure case coming up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largest single error, 72 bpm off. Before assuming the model failed to extract any pulse at all, we inspected the full spectrum, not just the winning peak. The true heart rate is right there: a strong second-place candidate at 71% of the winning peak's power. This reframes the failure as a peak-selection problem, not a signal-extraction failure, and it's a familiar failure mode to anyone who's worked with FFT-based peak picking on noisy, multi-modal spectra: argmax is a brittle decision rule exactly when two candidates are close, which is precisely the regime where it matters most. Signal present versus signal picked wrong is what actually determines whether a fix is worth building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post-hoc fix we tested and rejected on the same standard: evaluate against the whole dataset, not the one case that motivated the idea. Both times, the fix traded one set of failures for a different set. That pattern is worth naming: it's the same failure mode as overfitting to a single validation example, just done by hand instead of by an optimizer, and it's exactly why we hold post-hoc heuristics to full-corpus evaluation rather than declaring victory on the motivating case. The real insight, and the actual lever that worked in this project: fixing the face detector, not tuning the estimator after the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we'd want you to remember, laid out as one connected line because that's really what they are: a single pipeline, built and stress-tested end to end. A working, validated pipeline. Three real bugs, each one individually capable of faking a fairness finding. An honest, appropriately caveated robustness measurement. And two negative results we chose to report rather than quietly drop. If there's one sentence to take away, it's the one on screen: rigor about the pipeline is a precondition for rigor about fairness. And if there's one habit worth taking into your own work: validate the harness before you trust what it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direct about scope: our test set is small, we never tested the skin-tone axis this was originally framed around, and one regression on the older dataset is still open. None of that undermines what we did establish, but we'd rather name the boundary clearly than let it surface as a surprise question. Each limitation here maps directly to a next step: the clearest one is going back to the original skin-tone ambition with this now-validated pipeline underneath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we're happy to take questions. We have the full per-clip results, every figure, and both the classical and deep-learning code ready if you'd like to go deeper on any specific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1.png"/><Relationship Id="rId4" Type="http://schemas.openxmlformats.org/officeDocument/2006/relationships/image" Target="../media/image-15-4.png"/><Relationship Id="rId5" Type="http://schemas.openxmlformats.org/officeDocument/2006/relationships/image" Target="../media/image-15-1.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420"/>
        </a:solidFill>
      </p:bgPr>
    </p:bg>
    <p:spTree>
      <p:nvGrpSpPr>
        <p:cNvPr id="1" name=""/>
        <p:cNvGrpSpPr/>
        <p:nvPr/>
      </p:nvGrpSpPr>
      <p:grpSpPr>
        <a:xfrm>
          <a:off x="0" y="0"/>
          <a:ext cx="0" cy="0"/>
          <a:chOff x="0" y="0"/>
          <a:chExt cx="0" cy="0"/>
        </a:xfrm>
      </p:grpSpPr>
      <p:sp>
        <p:nvSpPr>
          <p:cNvPr id="2" name="Text 0"/>
          <p:cNvSpPr txBox="1"/>
          <p:nvPr/>
        </p:nvSpPr>
        <p:spPr>
          <a:xfrm>
            <a:off x="502920" y="822960"/>
            <a:ext cx="11185855" cy="320040"/>
          </a:xfrm>
          <a:prstGeom prst="rect">
            <a:avLst/>
          </a:prstGeom>
          <a:noFill/>
          <a:ln/>
        </p:spPr>
        <p:txBody>
          <a:bodyPr wrap="square" lIns="0" tIns="0" rIns="0" bIns="0" rtlCol="0" anchor="ctr"/>
          <a:lstStyle/>
          <a:p>
            <a:pPr indent="0" marL="0">
              <a:buNone/>
            </a:pPr>
            <a:r>
              <a:rPr lang="en-US" sz="1300" b="1" spc="200" kern="0" dirty="0">
                <a:solidFill>
                  <a:srgbClr val="2DD4BF"/>
                </a:solidFill>
                <a:latin typeface="Calibri" pitchFamily="34" charset="0"/>
                <a:ea typeface="Calibri" pitchFamily="34" charset="-122"/>
                <a:cs typeface="Calibri" pitchFamily="34" charset="-120"/>
              </a:rPr>
              <a:t>CSE754: DEEP LEARNING FOR COMPUTER VISION · FINAL PROJECT</a:t>
            </a:r>
            <a:endParaRPr lang="en-US" sz="1300" dirty="0"/>
          </a:p>
        </p:txBody>
      </p:sp>
      <p:sp>
        <p:nvSpPr>
          <p:cNvPr id="3" name="Text 1"/>
          <p:cNvSpPr txBox="1"/>
          <p:nvPr/>
        </p:nvSpPr>
        <p:spPr>
          <a:xfrm>
            <a:off x="502920" y="1371600"/>
            <a:ext cx="9692640" cy="1554480"/>
          </a:xfrm>
          <a:prstGeom prst="rect">
            <a:avLst/>
          </a:prstGeom>
          <a:noFill/>
          <a:ln/>
        </p:spPr>
        <p:txBody>
          <a:bodyPr wrap="square" lIns="0" tIns="0" rIns="0" bIns="0" rtlCol="0" anchor="ctr"/>
          <a:lstStyle/>
          <a:p>
            <a:pPr indent="0" marL="0">
              <a:lnSpc>
                <a:spcPct val="108000"/>
              </a:lnSpc>
              <a:buNone/>
            </a:pPr>
            <a:r>
              <a:rPr lang="en-US" sz="4000" b="1" dirty="0">
                <a:solidFill>
                  <a:srgbClr val="EAF1F7"/>
                </a:solidFill>
                <a:latin typeface="Calibri" pitchFamily="34" charset="0"/>
                <a:ea typeface="Calibri" pitchFamily="34" charset="-122"/>
                <a:cs typeface="Calibri" pitchFamily="34" charset="-120"/>
              </a:rPr>
              <a:t>Contactless Vital Sign Estimation from Face Video</a:t>
            </a:r>
            <a:endParaRPr lang="en-US" sz="4000" dirty="0"/>
          </a:p>
        </p:txBody>
      </p:sp>
      <p:sp>
        <p:nvSpPr>
          <p:cNvPr id="4" name="Text 2"/>
          <p:cNvSpPr txBox="1"/>
          <p:nvPr/>
        </p:nvSpPr>
        <p:spPr>
          <a:xfrm>
            <a:off x="502920" y="2788920"/>
            <a:ext cx="8778240" cy="822960"/>
          </a:xfrm>
          <a:prstGeom prst="rect">
            <a:avLst/>
          </a:prstGeom>
          <a:noFill/>
          <a:ln/>
        </p:spPr>
        <p:txBody>
          <a:bodyPr wrap="square" lIns="0" tIns="0" rIns="0" bIns="0" rtlCol="0" anchor="ctr"/>
          <a:lstStyle/>
          <a:p>
            <a:pPr indent="0" marL="0">
              <a:lnSpc>
                <a:spcPct val="130000"/>
              </a:lnSpc>
              <a:buNone/>
            </a:pPr>
            <a:r>
              <a:rPr lang="en-US" sz="1700" i="1" dirty="0">
                <a:solidFill>
                  <a:srgbClr val="8EA3B8"/>
                </a:solidFill>
                <a:latin typeface="Calibri" pitchFamily="34" charset="0"/>
                <a:ea typeface="Calibri" pitchFamily="34" charset="-122"/>
                <a:cs typeface="Calibri" pitchFamily="34" charset="-120"/>
              </a:rPr>
              <a:t>A Rigor-First Audit of Reproducibility and Robustness in Remote Photoplethysmography (rPPG)</a:t>
            </a:r>
            <a:endParaRPr lang="en-US" sz="1700" dirty="0"/>
          </a:p>
        </p:txBody>
      </p:sp>
      <p:sp>
        <p:nvSpPr>
          <p:cNvPr id="5" name="Shape 3"/>
          <p:cNvSpPr/>
          <p:nvPr/>
        </p:nvSpPr>
        <p:spPr>
          <a:xfrm>
            <a:off x="10287000" y="822960"/>
            <a:ext cx="1188720" cy="1188720"/>
          </a:xfrm>
          <a:prstGeom prst="ellipse">
            <a:avLst/>
          </a:prstGeom>
          <a:solidFill>
            <a:srgbClr val="0D1E30"/>
          </a:solidFill>
          <a:ln w="19050">
            <a:solidFill>
              <a:srgbClr val="38BDF8"/>
            </a:solidFill>
            <a:prstDash val="solid"/>
          </a:ln>
        </p:spPr>
      </p:sp>
      <p:pic>
        <p:nvPicPr>
          <p:cNvPr id="6" name="Image 0" descr="C:\Users\tausif\CSE 754\pptx_work\assets\Activity_38BDF8.png">    </p:cNvPr>
          <p:cNvPicPr>
            <a:picLocks noChangeAspect="1"/>
          </p:cNvPicPr>
          <p:nvPr/>
        </p:nvPicPr>
        <p:blipFill>
          <a:blip r:embed="rId1"/>
          <a:stretch>
            <a:fillRect/>
          </a:stretch>
        </p:blipFill>
        <p:spPr>
          <a:xfrm>
            <a:off x="10607954" y="1143914"/>
            <a:ext cx="546811" cy="546811"/>
          </a:xfrm>
          <a:prstGeom prst="rect">
            <a:avLst/>
          </a:prstGeom>
        </p:spPr>
      </p:pic>
      <p:sp>
        <p:nvSpPr>
          <p:cNvPr id="7" name="Text 4"/>
          <p:cNvSpPr txBox="1"/>
          <p:nvPr/>
        </p:nvSpPr>
        <p:spPr>
          <a:xfrm>
            <a:off x="502920" y="5989320"/>
            <a:ext cx="7315200" cy="320040"/>
          </a:xfrm>
          <a:prstGeom prst="rect">
            <a:avLst/>
          </a:prstGeom>
          <a:noFill/>
          <a:ln/>
        </p:spPr>
        <p:txBody>
          <a:bodyPr wrap="square" lIns="0" tIns="0" rIns="0" bIns="0" rtlCol="0" anchor="ctr"/>
          <a:lstStyle/>
          <a:p>
            <a:pPr indent="0" marL="0">
              <a:buNone/>
            </a:pPr>
            <a:r>
              <a:rPr lang="en-US" sz="1400" b="1" dirty="0">
                <a:solidFill>
                  <a:srgbClr val="EAF1F7"/>
                </a:solidFill>
                <a:latin typeface="Calibri" pitchFamily="34" charset="0"/>
                <a:ea typeface="Calibri" pitchFamily="34" charset="-122"/>
                <a:cs typeface="Calibri" pitchFamily="34" charset="-120"/>
              </a:rPr>
              <a:t>Noshin Tabassum Arthi · Samin Ahsan Tausif</a:t>
            </a:r>
            <a:endParaRPr lang="en-US" sz="1400" dirty="0"/>
          </a:p>
        </p:txBody>
      </p:sp>
      <p:sp>
        <p:nvSpPr>
          <p:cNvPr id="8" name="Text 5"/>
          <p:cNvSpPr txBox="1"/>
          <p:nvPr/>
        </p:nvSpPr>
        <p:spPr>
          <a:xfrm>
            <a:off x="502920" y="6309360"/>
            <a:ext cx="7315200" cy="274320"/>
          </a:xfrm>
          <a:prstGeom prst="rect">
            <a:avLst/>
          </a:prstGeom>
          <a:noFill/>
          <a:ln/>
        </p:spPr>
        <p:txBody>
          <a:bodyPr wrap="square" lIns="0" tIns="0" rIns="0" bIns="0" rtlCol="0" anchor="ctr"/>
          <a:lstStyle/>
          <a:p>
            <a:pPr indent="0" marL="0">
              <a:buNone/>
            </a:pPr>
            <a:r>
              <a:rPr lang="en-US" sz="1200" dirty="0">
                <a:solidFill>
                  <a:srgbClr val="8EA3B8"/>
                </a:solidFill>
                <a:latin typeface="Calibri" pitchFamily="34" charset="0"/>
                <a:ea typeface="Calibri" pitchFamily="34" charset="-122"/>
                <a:cs typeface="Calibri" pitchFamily="34" charset="-120"/>
              </a:rPr>
              <a:t>Supervisor: Dr. Md. Ashraful Alam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1420"/>
        </a:solidFill>
      </p:bgPr>
    </p:bg>
    <p:spTree>
      <p:nvGrpSpPr>
        <p:cNvPr id="1" name=""/>
        <p:cNvGrpSpPr/>
        <p:nvPr/>
      </p:nvGrpSpPr>
      <p:grpSpPr>
        <a:xfrm>
          <a:off x="0" y="0"/>
          <a:ext cx="0" cy="0"/>
          <a:chOff x="0" y="0"/>
          <a:chExt cx="0" cy="0"/>
        </a:xfrm>
      </p:grpSpPr>
      <p:sp>
        <p:nvSpPr>
          <p:cNvPr id="2" name="Text 0"/>
          <p:cNvSpPr txBox="1"/>
          <p:nvPr/>
        </p:nvSpPr>
        <p:spPr>
          <a:xfrm>
            <a:off x="502920" y="365760"/>
            <a:ext cx="11185855" cy="292608"/>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AGENDA</a:t>
            </a:r>
            <a:endParaRPr lang="en-US" sz="1200" dirty="0"/>
          </a:p>
        </p:txBody>
      </p:sp>
      <p:sp>
        <p:nvSpPr>
          <p:cNvPr id="3" name="Text 1"/>
          <p:cNvSpPr txBox="1"/>
          <p:nvPr/>
        </p:nvSpPr>
        <p:spPr>
          <a:xfrm>
            <a:off x="502920" y="658368"/>
            <a:ext cx="11185855" cy="822960"/>
          </a:xfrm>
          <a:prstGeom prst="rect">
            <a:avLst/>
          </a:prstGeom>
          <a:noFill/>
          <a:ln/>
        </p:spPr>
        <p:txBody>
          <a:bodyPr wrap="square" lIns="0" tIns="0" rIns="0" bIns="0" rtlCol="0" anchor="t"/>
          <a:lstStyle/>
          <a:p>
            <a:pPr indent="0" marL="0">
              <a:lnSpc>
                <a:spcPct val="105000"/>
              </a:lnSpc>
              <a:buNone/>
            </a:pPr>
            <a:r>
              <a:rPr lang="en-US" sz="3000" b="1" dirty="0">
                <a:solidFill>
                  <a:srgbClr val="EAF1F7"/>
                </a:solidFill>
                <a:latin typeface="Calibri" pitchFamily="34" charset="0"/>
                <a:ea typeface="Calibri" pitchFamily="34" charset="-122"/>
                <a:cs typeface="Calibri" pitchFamily="34" charset="-120"/>
              </a:rPr>
              <a:t>One journey, five stops</a:t>
            </a:r>
            <a:endParaRPr lang="en-US" sz="3000" dirty="0"/>
          </a:p>
        </p:txBody>
      </p:sp>
      <p:sp>
        <p:nvSpPr>
          <p:cNvPr id="4" name="Shape 2"/>
          <p:cNvSpPr/>
          <p:nvPr/>
        </p:nvSpPr>
        <p:spPr>
          <a:xfrm>
            <a:off x="1187166" y="1943100"/>
            <a:ext cx="868680" cy="868680"/>
          </a:xfrm>
          <a:prstGeom prst="ellipse">
            <a:avLst/>
          </a:prstGeom>
          <a:solidFill>
            <a:srgbClr val="0D1E30"/>
          </a:solidFill>
          <a:ln w="19050">
            <a:solidFill>
              <a:srgbClr val="38BDF8"/>
            </a:solidFill>
            <a:prstDash val="solid"/>
          </a:ln>
        </p:spPr>
      </p:sp>
      <p:pic>
        <p:nvPicPr>
          <p:cNvPr id="5" name="Image 0" descr="C:\Users\tausif\CSE 754\pptx_work\assets\Lightbulb_38BDF8.png">    </p:cNvPr>
          <p:cNvPicPr>
            <a:picLocks noChangeAspect="1"/>
          </p:cNvPicPr>
          <p:nvPr/>
        </p:nvPicPr>
        <p:blipFill>
          <a:blip r:embed="rId1"/>
          <a:stretch>
            <a:fillRect/>
          </a:stretch>
        </p:blipFill>
        <p:spPr>
          <a:xfrm>
            <a:off x="1421709" y="2177644"/>
            <a:ext cx="399593" cy="399593"/>
          </a:xfrm>
          <a:prstGeom prst="rect">
            <a:avLst/>
          </a:prstGeom>
        </p:spPr>
      </p:pic>
      <p:sp>
        <p:nvSpPr>
          <p:cNvPr id="6" name="Text 3"/>
          <p:cNvSpPr txBox="1"/>
          <p:nvPr/>
        </p:nvSpPr>
        <p:spPr>
          <a:xfrm>
            <a:off x="594360" y="2926080"/>
            <a:ext cx="2054291" cy="274320"/>
          </a:xfrm>
          <a:prstGeom prst="rect">
            <a:avLst/>
          </a:prstGeom>
          <a:noFill/>
          <a:ln/>
        </p:spPr>
        <p:txBody>
          <a:bodyPr wrap="square" lIns="0" tIns="0" rIns="0" bIns="0" rtlCol="0" anchor="ctr"/>
          <a:lstStyle/>
          <a:p>
            <a:pPr algn="ctr" indent="0" marL="0">
              <a:buNone/>
            </a:pPr>
            <a:r>
              <a:rPr lang="en-US" sz="1000" b="1" spc="100" kern="0" dirty="0">
                <a:solidFill>
                  <a:srgbClr val="38BDF8"/>
                </a:solidFill>
                <a:latin typeface="Calibri" pitchFamily="34" charset="0"/>
                <a:ea typeface="Calibri" pitchFamily="34" charset="-122"/>
                <a:cs typeface="Calibri" pitchFamily="34" charset="-120"/>
              </a:rPr>
              <a:t>01 · WHY</a:t>
            </a:r>
            <a:endParaRPr lang="en-US" sz="1000" dirty="0"/>
          </a:p>
        </p:txBody>
      </p:sp>
      <p:sp>
        <p:nvSpPr>
          <p:cNvPr id="7" name="Text 4"/>
          <p:cNvSpPr txBox="1"/>
          <p:nvPr/>
        </p:nvSpPr>
        <p:spPr>
          <a:xfrm>
            <a:off x="594360" y="3200400"/>
            <a:ext cx="2054291" cy="365760"/>
          </a:xfrm>
          <a:prstGeom prst="rect">
            <a:avLst/>
          </a:prstGeom>
          <a:noFill/>
          <a:ln/>
        </p:spPr>
        <p:txBody>
          <a:bodyPr wrap="square" lIns="0" tIns="0" rIns="0" bIns="0" rtlCol="0" anchor="ctr"/>
          <a:lstStyle/>
          <a:p>
            <a:pPr algn="ctr" indent="0" marL="0">
              <a:buNone/>
            </a:pPr>
            <a:r>
              <a:rPr lang="en-US" sz="1500" b="1" dirty="0">
                <a:solidFill>
                  <a:srgbClr val="EAF1F7"/>
                </a:solidFill>
                <a:latin typeface="Calibri" pitchFamily="34" charset="0"/>
                <a:ea typeface="Calibri" pitchFamily="34" charset="-122"/>
                <a:cs typeface="Calibri" pitchFamily="34" charset="-120"/>
              </a:rPr>
              <a:t>Motivation</a:t>
            </a:r>
            <a:endParaRPr lang="en-US" sz="1500" dirty="0"/>
          </a:p>
        </p:txBody>
      </p:sp>
      <p:sp>
        <p:nvSpPr>
          <p:cNvPr id="8" name="Shape 5"/>
          <p:cNvSpPr/>
          <p:nvPr/>
        </p:nvSpPr>
        <p:spPr>
          <a:xfrm>
            <a:off x="2538923" y="2313432"/>
            <a:ext cx="310896" cy="128016"/>
          </a:xfrm>
          <a:prstGeom prst="rightArrow">
            <a:avLst/>
          </a:prstGeom>
          <a:solidFill>
            <a:srgbClr val="2A4A63"/>
          </a:solidFill>
          <a:ln/>
        </p:spPr>
      </p:sp>
      <p:sp>
        <p:nvSpPr>
          <p:cNvPr id="9" name="Shape 6"/>
          <p:cNvSpPr/>
          <p:nvPr/>
        </p:nvSpPr>
        <p:spPr>
          <a:xfrm>
            <a:off x="3424337" y="1943100"/>
            <a:ext cx="868680" cy="868680"/>
          </a:xfrm>
          <a:prstGeom prst="ellipse">
            <a:avLst/>
          </a:prstGeom>
          <a:solidFill>
            <a:srgbClr val="0D1E30"/>
          </a:solidFill>
          <a:ln w="19050">
            <a:solidFill>
              <a:srgbClr val="FBBF24"/>
            </a:solidFill>
            <a:prstDash val="solid"/>
          </a:ln>
        </p:spPr>
      </p:sp>
      <p:pic>
        <p:nvPicPr>
          <p:cNvPr id="10" name="Image 1" descr="C:\Users\tausif\CSE 754\pptx_work\assets\Search_FBBF24.png">    </p:cNvPr>
          <p:cNvPicPr>
            <a:picLocks noChangeAspect="1"/>
          </p:cNvPicPr>
          <p:nvPr/>
        </p:nvPicPr>
        <p:blipFill>
          <a:blip r:embed="rId2"/>
          <a:stretch>
            <a:fillRect/>
          </a:stretch>
        </p:blipFill>
        <p:spPr>
          <a:xfrm>
            <a:off x="3658880" y="2177644"/>
            <a:ext cx="399593" cy="399593"/>
          </a:xfrm>
          <a:prstGeom prst="rect">
            <a:avLst/>
          </a:prstGeom>
        </p:spPr>
      </p:pic>
      <p:sp>
        <p:nvSpPr>
          <p:cNvPr id="11" name="Text 7"/>
          <p:cNvSpPr txBox="1"/>
          <p:nvPr/>
        </p:nvSpPr>
        <p:spPr>
          <a:xfrm>
            <a:off x="2831531" y="2926080"/>
            <a:ext cx="2054291" cy="274320"/>
          </a:xfrm>
          <a:prstGeom prst="rect">
            <a:avLst/>
          </a:prstGeom>
          <a:noFill/>
          <a:ln/>
        </p:spPr>
        <p:txBody>
          <a:bodyPr wrap="square" lIns="0" tIns="0" rIns="0" bIns="0" rtlCol="0" anchor="ctr"/>
          <a:lstStyle/>
          <a:p>
            <a:pPr algn="ctr" indent="0" marL="0">
              <a:buNone/>
            </a:pPr>
            <a:r>
              <a:rPr lang="en-US" sz="1000" b="1" spc="100" kern="0" dirty="0">
                <a:solidFill>
                  <a:srgbClr val="FBBF24"/>
                </a:solidFill>
                <a:latin typeface="Calibri" pitchFamily="34" charset="0"/>
                <a:ea typeface="Calibri" pitchFamily="34" charset="-122"/>
                <a:cs typeface="Calibri" pitchFamily="34" charset="-120"/>
              </a:rPr>
              <a:t>02 · PROBLEM</a:t>
            </a:r>
            <a:endParaRPr lang="en-US" sz="1000" dirty="0"/>
          </a:p>
        </p:txBody>
      </p:sp>
      <p:sp>
        <p:nvSpPr>
          <p:cNvPr id="12" name="Text 8"/>
          <p:cNvSpPr txBox="1"/>
          <p:nvPr/>
        </p:nvSpPr>
        <p:spPr>
          <a:xfrm>
            <a:off x="2831531" y="3200400"/>
            <a:ext cx="2054291" cy="365760"/>
          </a:xfrm>
          <a:prstGeom prst="rect">
            <a:avLst/>
          </a:prstGeom>
          <a:noFill/>
          <a:ln/>
        </p:spPr>
        <p:txBody>
          <a:bodyPr wrap="square" lIns="0" tIns="0" rIns="0" bIns="0" rtlCol="0" anchor="ctr"/>
          <a:lstStyle/>
          <a:p>
            <a:pPr algn="ctr" indent="0" marL="0">
              <a:buNone/>
            </a:pPr>
            <a:r>
              <a:rPr lang="en-US" sz="1500" b="1" dirty="0">
                <a:solidFill>
                  <a:srgbClr val="EAF1F7"/>
                </a:solidFill>
                <a:latin typeface="Calibri" pitchFamily="34" charset="0"/>
                <a:ea typeface="Calibri" pitchFamily="34" charset="-122"/>
                <a:cs typeface="Calibri" pitchFamily="34" charset="-120"/>
              </a:rPr>
              <a:t>The Gap</a:t>
            </a:r>
            <a:endParaRPr lang="en-US" sz="1500" dirty="0"/>
          </a:p>
        </p:txBody>
      </p:sp>
      <p:sp>
        <p:nvSpPr>
          <p:cNvPr id="13" name="Shape 9"/>
          <p:cNvSpPr/>
          <p:nvPr/>
        </p:nvSpPr>
        <p:spPr>
          <a:xfrm>
            <a:off x="4776094" y="2313432"/>
            <a:ext cx="310896" cy="128016"/>
          </a:xfrm>
          <a:prstGeom prst="rightArrow">
            <a:avLst/>
          </a:prstGeom>
          <a:solidFill>
            <a:srgbClr val="2A4A63"/>
          </a:solidFill>
          <a:ln/>
        </p:spPr>
      </p:sp>
      <p:sp>
        <p:nvSpPr>
          <p:cNvPr id="14" name="Shape 10"/>
          <p:cNvSpPr/>
          <p:nvPr/>
        </p:nvSpPr>
        <p:spPr>
          <a:xfrm>
            <a:off x="5661508" y="1943100"/>
            <a:ext cx="868680" cy="868680"/>
          </a:xfrm>
          <a:prstGeom prst="ellipse">
            <a:avLst/>
          </a:prstGeom>
          <a:solidFill>
            <a:srgbClr val="0D1E30"/>
          </a:solidFill>
          <a:ln w="19050">
            <a:solidFill>
              <a:srgbClr val="2DD4BF"/>
            </a:solidFill>
            <a:prstDash val="solid"/>
          </a:ln>
        </p:spPr>
      </p:sp>
      <p:pic>
        <p:nvPicPr>
          <p:cNvPr id="15" name="Image 2" descr="C:\Users\tausif\CSE 754\pptx_work\assets\Tool_2DD4BF.png">    </p:cNvPr>
          <p:cNvPicPr>
            <a:picLocks noChangeAspect="1"/>
          </p:cNvPicPr>
          <p:nvPr/>
        </p:nvPicPr>
        <p:blipFill>
          <a:blip r:embed="rId3"/>
          <a:stretch>
            <a:fillRect/>
          </a:stretch>
        </p:blipFill>
        <p:spPr>
          <a:xfrm>
            <a:off x="5896051" y="2177644"/>
            <a:ext cx="399593" cy="399593"/>
          </a:xfrm>
          <a:prstGeom prst="rect">
            <a:avLst/>
          </a:prstGeom>
        </p:spPr>
      </p:pic>
      <p:sp>
        <p:nvSpPr>
          <p:cNvPr id="16" name="Text 11"/>
          <p:cNvSpPr txBox="1"/>
          <p:nvPr/>
        </p:nvSpPr>
        <p:spPr>
          <a:xfrm>
            <a:off x="5068702" y="2926080"/>
            <a:ext cx="2054291" cy="274320"/>
          </a:xfrm>
          <a:prstGeom prst="rect">
            <a:avLst/>
          </a:prstGeom>
          <a:noFill/>
          <a:ln/>
        </p:spPr>
        <p:txBody>
          <a:bodyPr wrap="square" lIns="0" tIns="0" rIns="0" bIns="0" rtlCol="0" anchor="ctr"/>
          <a:lstStyle/>
          <a:p>
            <a:pPr algn="ctr" indent="0" marL="0">
              <a:buNone/>
            </a:pPr>
            <a:r>
              <a:rPr lang="en-US" sz="1000" b="1" spc="100" kern="0" dirty="0">
                <a:solidFill>
                  <a:srgbClr val="2DD4BF"/>
                </a:solidFill>
                <a:latin typeface="Calibri" pitchFamily="34" charset="0"/>
                <a:ea typeface="Calibri" pitchFamily="34" charset="-122"/>
                <a:cs typeface="Calibri" pitchFamily="34" charset="-120"/>
              </a:rPr>
              <a:t>03 · APPROACH</a:t>
            </a:r>
            <a:endParaRPr lang="en-US" sz="1000" dirty="0"/>
          </a:p>
        </p:txBody>
      </p:sp>
      <p:sp>
        <p:nvSpPr>
          <p:cNvPr id="17" name="Text 12"/>
          <p:cNvSpPr txBox="1"/>
          <p:nvPr/>
        </p:nvSpPr>
        <p:spPr>
          <a:xfrm>
            <a:off x="5068702" y="3200400"/>
            <a:ext cx="2054291" cy="365760"/>
          </a:xfrm>
          <a:prstGeom prst="rect">
            <a:avLst/>
          </a:prstGeom>
          <a:noFill/>
          <a:ln/>
        </p:spPr>
        <p:txBody>
          <a:bodyPr wrap="square" lIns="0" tIns="0" rIns="0" bIns="0" rtlCol="0" anchor="ctr"/>
          <a:lstStyle/>
          <a:p>
            <a:pPr algn="ctr" indent="0" marL="0">
              <a:buNone/>
            </a:pPr>
            <a:r>
              <a:rPr lang="en-US" sz="1500" b="1" dirty="0">
                <a:solidFill>
                  <a:srgbClr val="EAF1F7"/>
                </a:solidFill>
                <a:latin typeface="Calibri" pitchFamily="34" charset="0"/>
                <a:ea typeface="Calibri" pitchFamily="34" charset="-122"/>
                <a:cs typeface="Calibri" pitchFamily="34" charset="-120"/>
              </a:rPr>
              <a:t>Method</a:t>
            </a:r>
            <a:endParaRPr lang="en-US" sz="1500" dirty="0"/>
          </a:p>
        </p:txBody>
      </p:sp>
      <p:sp>
        <p:nvSpPr>
          <p:cNvPr id="18" name="Shape 13"/>
          <p:cNvSpPr/>
          <p:nvPr/>
        </p:nvSpPr>
        <p:spPr>
          <a:xfrm>
            <a:off x="7013265" y="2313432"/>
            <a:ext cx="310896" cy="128016"/>
          </a:xfrm>
          <a:prstGeom prst="rightArrow">
            <a:avLst/>
          </a:prstGeom>
          <a:solidFill>
            <a:srgbClr val="2A4A63"/>
          </a:solidFill>
          <a:ln/>
        </p:spPr>
      </p:sp>
      <p:sp>
        <p:nvSpPr>
          <p:cNvPr id="19" name="Shape 14"/>
          <p:cNvSpPr/>
          <p:nvPr/>
        </p:nvSpPr>
        <p:spPr>
          <a:xfrm>
            <a:off x="7898679" y="1943100"/>
            <a:ext cx="868680" cy="868680"/>
          </a:xfrm>
          <a:prstGeom prst="ellipse">
            <a:avLst/>
          </a:prstGeom>
          <a:solidFill>
            <a:srgbClr val="0D1E30"/>
          </a:solidFill>
          <a:ln w="19050">
            <a:solidFill>
              <a:srgbClr val="F472B6"/>
            </a:solidFill>
            <a:prstDash val="solid"/>
          </a:ln>
        </p:spPr>
      </p:sp>
      <p:pic>
        <p:nvPicPr>
          <p:cNvPr id="20" name="Image 3" descr="C:\Users\tausif\CSE 754\pptx_work\assets\Chart_F472B6.png">    </p:cNvPr>
          <p:cNvPicPr>
            <a:picLocks noChangeAspect="1"/>
          </p:cNvPicPr>
          <p:nvPr/>
        </p:nvPicPr>
        <p:blipFill>
          <a:blip r:embed="rId4"/>
          <a:stretch>
            <a:fillRect/>
          </a:stretch>
        </p:blipFill>
        <p:spPr>
          <a:xfrm>
            <a:off x="8133222" y="2177644"/>
            <a:ext cx="399593" cy="399593"/>
          </a:xfrm>
          <a:prstGeom prst="rect">
            <a:avLst/>
          </a:prstGeom>
        </p:spPr>
      </p:pic>
      <p:sp>
        <p:nvSpPr>
          <p:cNvPr id="21" name="Text 15"/>
          <p:cNvSpPr txBox="1"/>
          <p:nvPr/>
        </p:nvSpPr>
        <p:spPr>
          <a:xfrm>
            <a:off x="7305873" y="2926080"/>
            <a:ext cx="2054291" cy="274320"/>
          </a:xfrm>
          <a:prstGeom prst="rect">
            <a:avLst/>
          </a:prstGeom>
          <a:noFill/>
          <a:ln/>
        </p:spPr>
        <p:txBody>
          <a:bodyPr wrap="square" lIns="0" tIns="0" rIns="0" bIns="0" rtlCol="0" anchor="ctr"/>
          <a:lstStyle/>
          <a:p>
            <a:pPr algn="ctr" indent="0" marL="0">
              <a:buNone/>
            </a:pPr>
            <a:r>
              <a:rPr lang="en-US" sz="1000" b="1" spc="100" kern="0" dirty="0">
                <a:solidFill>
                  <a:srgbClr val="F472B6"/>
                </a:solidFill>
                <a:latin typeface="Calibri" pitchFamily="34" charset="0"/>
                <a:ea typeface="Calibri" pitchFamily="34" charset="-122"/>
                <a:cs typeface="Calibri" pitchFamily="34" charset="-120"/>
              </a:rPr>
              <a:t>04 · RESULTS</a:t>
            </a:r>
            <a:endParaRPr lang="en-US" sz="1000" dirty="0"/>
          </a:p>
        </p:txBody>
      </p:sp>
      <p:sp>
        <p:nvSpPr>
          <p:cNvPr id="22" name="Text 16"/>
          <p:cNvSpPr txBox="1"/>
          <p:nvPr/>
        </p:nvSpPr>
        <p:spPr>
          <a:xfrm>
            <a:off x="7305873" y="3200400"/>
            <a:ext cx="2054291" cy="365760"/>
          </a:xfrm>
          <a:prstGeom prst="rect">
            <a:avLst/>
          </a:prstGeom>
          <a:noFill/>
          <a:ln/>
        </p:spPr>
        <p:txBody>
          <a:bodyPr wrap="square" lIns="0" tIns="0" rIns="0" bIns="0" rtlCol="0" anchor="ctr"/>
          <a:lstStyle/>
          <a:p>
            <a:pPr algn="ctr" indent="0" marL="0">
              <a:buNone/>
            </a:pPr>
            <a:r>
              <a:rPr lang="en-US" sz="1500" b="1" dirty="0">
                <a:solidFill>
                  <a:srgbClr val="EAF1F7"/>
                </a:solidFill>
                <a:latin typeface="Calibri" pitchFamily="34" charset="0"/>
                <a:ea typeface="Calibri" pitchFamily="34" charset="-122"/>
                <a:cs typeface="Calibri" pitchFamily="34" charset="-120"/>
              </a:rPr>
              <a:t>Outcomes</a:t>
            </a:r>
            <a:endParaRPr lang="en-US" sz="1500" dirty="0"/>
          </a:p>
        </p:txBody>
      </p:sp>
      <p:sp>
        <p:nvSpPr>
          <p:cNvPr id="23" name="Shape 17"/>
          <p:cNvSpPr/>
          <p:nvPr/>
        </p:nvSpPr>
        <p:spPr>
          <a:xfrm>
            <a:off x="9250436" y="2313432"/>
            <a:ext cx="310896" cy="128016"/>
          </a:xfrm>
          <a:prstGeom prst="rightArrow">
            <a:avLst/>
          </a:prstGeom>
          <a:solidFill>
            <a:srgbClr val="2A4A63"/>
          </a:solidFill>
          <a:ln/>
        </p:spPr>
      </p:sp>
      <p:sp>
        <p:nvSpPr>
          <p:cNvPr id="24" name="Shape 18"/>
          <p:cNvSpPr/>
          <p:nvPr/>
        </p:nvSpPr>
        <p:spPr>
          <a:xfrm>
            <a:off x="10135850" y="1943100"/>
            <a:ext cx="868680" cy="868680"/>
          </a:xfrm>
          <a:prstGeom prst="ellipse">
            <a:avLst/>
          </a:prstGeom>
          <a:solidFill>
            <a:srgbClr val="0D1E30"/>
          </a:solidFill>
          <a:ln w="19050">
            <a:solidFill>
              <a:srgbClr val="8EA3B8"/>
            </a:solidFill>
            <a:prstDash val="solid"/>
          </a:ln>
        </p:spPr>
      </p:sp>
      <p:pic>
        <p:nvPicPr>
          <p:cNvPr id="25" name="Image 4" descr="C:\Users\tausif\CSE 754\pptx_work\assets\Verified_8EA3B8.png">    </p:cNvPr>
          <p:cNvPicPr>
            <a:picLocks noChangeAspect="1"/>
          </p:cNvPicPr>
          <p:nvPr/>
        </p:nvPicPr>
        <p:blipFill>
          <a:blip r:embed="rId5"/>
          <a:stretch>
            <a:fillRect/>
          </a:stretch>
        </p:blipFill>
        <p:spPr>
          <a:xfrm>
            <a:off x="10370393" y="2177644"/>
            <a:ext cx="399593" cy="399593"/>
          </a:xfrm>
          <a:prstGeom prst="rect">
            <a:avLst/>
          </a:prstGeom>
        </p:spPr>
      </p:pic>
      <p:sp>
        <p:nvSpPr>
          <p:cNvPr id="26" name="Text 19"/>
          <p:cNvSpPr txBox="1"/>
          <p:nvPr/>
        </p:nvSpPr>
        <p:spPr>
          <a:xfrm>
            <a:off x="9543044" y="2926080"/>
            <a:ext cx="2054291" cy="274320"/>
          </a:xfrm>
          <a:prstGeom prst="rect">
            <a:avLst/>
          </a:prstGeom>
          <a:noFill/>
          <a:ln/>
        </p:spPr>
        <p:txBody>
          <a:bodyPr wrap="square" lIns="0" tIns="0" rIns="0" bIns="0" rtlCol="0" anchor="ctr"/>
          <a:lstStyle/>
          <a:p>
            <a:pPr algn="ctr" indent="0" marL="0">
              <a:buNone/>
            </a:pPr>
            <a:r>
              <a:rPr lang="en-US" sz="1000" b="1" spc="100" kern="0" dirty="0">
                <a:solidFill>
                  <a:srgbClr val="8EA3B8"/>
                </a:solidFill>
                <a:latin typeface="Calibri" pitchFamily="34" charset="0"/>
                <a:ea typeface="Calibri" pitchFamily="34" charset="-122"/>
                <a:cs typeface="Calibri" pitchFamily="34" charset="-120"/>
              </a:rPr>
              <a:t>05 · CLOSE</a:t>
            </a:r>
            <a:endParaRPr lang="en-US" sz="1000" dirty="0"/>
          </a:p>
        </p:txBody>
      </p:sp>
      <p:sp>
        <p:nvSpPr>
          <p:cNvPr id="27" name="Text 20"/>
          <p:cNvSpPr txBox="1"/>
          <p:nvPr/>
        </p:nvSpPr>
        <p:spPr>
          <a:xfrm>
            <a:off x="9543044" y="3200400"/>
            <a:ext cx="2054291" cy="365760"/>
          </a:xfrm>
          <a:prstGeom prst="rect">
            <a:avLst/>
          </a:prstGeom>
          <a:noFill/>
          <a:ln/>
        </p:spPr>
        <p:txBody>
          <a:bodyPr wrap="square" lIns="0" tIns="0" rIns="0" bIns="0" rtlCol="0" anchor="ctr"/>
          <a:lstStyle/>
          <a:p>
            <a:pPr algn="ctr" indent="0" marL="0">
              <a:buNone/>
            </a:pPr>
            <a:r>
              <a:rPr lang="en-US" sz="1500" b="1" dirty="0">
                <a:solidFill>
                  <a:srgbClr val="EAF1F7"/>
                </a:solidFill>
                <a:latin typeface="Calibri" pitchFamily="34" charset="0"/>
                <a:ea typeface="Calibri" pitchFamily="34" charset="-122"/>
                <a:cs typeface="Calibri" pitchFamily="34" charset="-120"/>
              </a:rPr>
              <a:t>Conclusion</a:t>
            </a:r>
            <a:endParaRPr lang="en-US" sz="1500" dirty="0"/>
          </a:p>
        </p:txBody>
      </p:sp>
      <p:sp>
        <p:nvSpPr>
          <p:cNvPr id="28" name="Shape 21"/>
          <p:cNvSpPr/>
          <p:nvPr/>
        </p:nvSpPr>
        <p:spPr>
          <a:xfrm>
            <a:off x="502920" y="5120640"/>
            <a:ext cx="11185855" cy="658368"/>
          </a:xfrm>
          <a:prstGeom prst="roundRect">
            <a:avLst>
              <a:gd name="adj" fmla="val 16667"/>
            </a:avLst>
          </a:prstGeom>
          <a:solidFill>
            <a:srgbClr val="0A1A2C"/>
          </a:solidFill>
          <a:ln/>
        </p:spPr>
      </p:sp>
      <p:pic>
        <p:nvPicPr>
          <p:cNvPr id="29" name="Image 5" descr="C:\Users\tausif\CSE 754\pptx_work\assets\Lightning_2DD4BF.png">    </p:cNvPr>
          <p:cNvPicPr>
            <a:picLocks noChangeAspect="1"/>
          </p:cNvPicPr>
          <p:nvPr/>
        </p:nvPicPr>
        <p:blipFill>
          <a:blip r:embed="rId6"/>
          <a:stretch>
            <a:fillRect/>
          </a:stretch>
        </p:blipFill>
        <p:spPr>
          <a:xfrm>
            <a:off x="704088" y="5312664"/>
            <a:ext cx="274320" cy="274320"/>
          </a:xfrm>
          <a:prstGeom prst="rect">
            <a:avLst/>
          </a:prstGeom>
        </p:spPr>
      </p:pic>
      <p:sp>
        <p:nvSpPr>
          <p:cNvPr id="30" name="Text 22"/>
          <p:cNvSpPr txBox="1"/>
          <p:nvPr/>
        </p:nvSpPr>
        <p:spPr>
          <a:xfrm>
            <a:off x="1143000" y="5166360"/>
            <a:ext cx="10271455" cy="566928"/>
          </a:xfrm>
          <a:prstGeom prst="rect">
            <a:avLst/>
          </a:prstGeom>
          <a:noFill/>
          <a:ln/>
        </p:spPr>
        <p:txBody>
          <a:bodyPr wrap="square" lIns="0" tIns="0" rIns="0" bIns="0" rtlCol="0" anchor="ctr"/>
          <a:lstStyle/>
          <a:p>
            <a:pPr indent="0" marL="0">
              <a:lnSpc>
                <a:spcPct val="115000"/>
              </a:lnSpc>
              <a:buNone/>
            </a:pPr>
            <a:r>
              <a:rPr lang="en-US" sz="1400" dirty="0">
                <a:solidFill>
                  <a:srgbClr val="EAF1F7"/>
                </a:solidFill>
                <a:latin typeface="Calibri" pitchFamily="34" charset="0"/>
                <a:ea typeface="Calibri" pitchFamily="34" charset="-122"/>
                <a:cs typeface="Calibri" pitchFamily="34" charset="-120"/>
              </a:rPr>
              <a:t>A fairness or robustness number is only as trustworthy as the pipeline behind it — that idea threads through every stop on this map.</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1420"/>
        </a:solidFill>
      </p:bgPr>
    </p:bg>
    <p:spTree>
      <p:nvGrpSpPr>
        <p:cNvPr id="1" name=""/>
        <p:cNvGrpSpPr/>
        <p:nvPr/>
      </p:nvGrpSpPr>
      <p:grpSpPr>
        <a:xfrm>
          <a:off x="0" y="0"/>
          <a:ext cx="0" cy="0"/>
          <a:chOff x="0" y="0"/>
          <a:chExt cx="0" cy="0"/>
        </a:xfrm>
      </p:grpSpPr>
      <p:sp>
        <p:nvSpPr>
          <p:cNvPr id="2" name="Text 0"/>
          <p:cNvSpPr txBox="1"/>
          <p:nvPr/>
        </p:nvSpPr>
        <p:spPr>
          <a:xfrm>
            <a:off x="502920" y="365760"/>
            <a:ext cx="11185855" cy="292608"/>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01 · MOTIVATION</a:t>
            </a:r>
            <a:endParaRPr lang="en-US" sz="1200" dirty="0"/>
          </a:p>
        </p:txBody>
      </p:sp>
      <p:sp>
        <p:nvSpPr>
          <p:cNvPr id="3" name="Text 1"/>
          <p:cNvSpPr txBox="1"/>
          <p:nvPr/>
        </p:nvSpPr>
        <p:spPr>
          <a:xfrm>
            <a:off x="502920" y="658368"/>
            <a:ext cx="11185855" cy="1051560"/>
          </a:xfrm>
          <a:prstGeom prst="rect">
            <a:avLst/>
          </a:prstGeom>
          <a:noFill/>
          <a:ln/>
        </p:spPr>
        <p:txBody>
          <a:bodyPr wrap="square" lIns="0" tIns="0" rIns="0" bIns="0" rtlCol="0" anchor="t"/>
          <a:lstStyle/>
          <a:p>
            <a:pPr indent="0" marL="0">
              <a:lnSpc>
                <a:spcPct val="105000"/>
              </a:lnSpc>
              <a:buNone/>
            </a:pPr>
            <a:r>
              <a:rPr lang="en-US" sz="2600" b="1" dirty="0">
                <a:solidFill>
                  <a:srgbClr val="EAF1F7"/>
                </a:solidFill>
                <a:latin typeface="Calibri" pitchFamily="34" charset="0"/>
                <a:ea typeface="Calibri" pitchFamily="34" charset="-122"/>
                <a:cs typeface="Calibri" pitchFamily="34" charset="-120"/>
              </a:rPr>
              <a:t>A camera can read your pulse — but does it read everyone, everywhere, reliably?</a:t>
            </a:r>
            <a:endParaRPr lang="en-US" sz="2600" dirty="0"/>
          </a:p>
        </p:txBody>
      </p:sp>
      <p:sp>
        <p:nvSpPr>
          <p:cNvPr id="4" name="Shape 2"/>
          <p:cNvSpPr/>
          <p:nvPr/>
        </p:nvSpPr>
        <p:spPr>
          <a:xfrm>
            <a:off x="530352" y="2176272"/>
            <a:ext cx="457200" cy="457200"/>
          </a:xfrm>
          <a:prstGeom prst="ellipse">
            <a:avLst/>
          </a:prstGeom>
          <a:solidFill>
            <a:srgbClr val="0D1E30"/>
          </a:solidFill>
          <a:ln w="19050">
            <a:solidFill>
              <a:srgbClr val="38BDF8"/>
            </a:solidFill>
            <a:prstDash val="solid"/>
          </a:ln>
        </p:spPr>
      </p:sp>
      <p:pic>
        <p:nvPicPr>
          <p:cNvPr id="5" name="Image 0" descr="C:\Users\tausif\CSE 754\pptx_work\assets\Play_38BDF8.png">    </p:cNvPr>
          <p:cNvPicPr>
            <a:picLocks noChangeAspect="1"/>
          </p:cNvPicPr>
          <p:nvPr/>
        </p:nvPicPr>
        <p:blipFill>
          <a:blip r:embed="rId1"/>
          <a:stretch>
            <a:fillRect/>
          </a:stretch>
        </p:blipFill>
        <p:spPr>
          <a:xfrm>
            <a:off x="653796" y="2299716"/>
            <a:ext cx="210312" cy="210312"/>
          </a:xfrm>
          <a:prstGeom prst="rect">
            <a:avLst/>
          </a:prstGeom>
        </p:spPr>
      </p:pic>
      <p:sp>
        <p:nvSpPr>
          <p:cNvPr id="6" name="Text 3"/>
          <p:cNvSpPr txBox="1"/>
          <p:nvPr/>
        </p:nvSpPr>
        <p:spPr>
          <a:xfrm>
            <a:off x="1097280" y="2148840"/>
            <a:ext cx="6126480" cy="594360"/>
          </a:xfrm>
          <a:prstGeom prst="rect">
            <a:avLst/>
          </a:prstGeom>
          <a:noFill/>
          <a:ln/>
        </p:spPr>
        <p:txBody>
          <a:bodyPr wrap="square" lIns="0" tIns="0" rIns="0" bIns="0" rtlCol="0" anchor="ctr"/>
          <a:lstStyle/>
          <a:p>
            <a:pPr indent="0" marL="0">
              <a:lnSpc>
                <a:spcPct val="125000"/>
              </a:lnSpc>
              <a:buNone/>
            </a:pPr>
            <a:r>
              <a:rPr lang="en-US" sz="1500" dirty="0">
                <a:solidFill>
                  <a:srgbClr val="EAF1F7"/>
                </a:solidFill>
                <a:latin typeface="Calibri" pitchFamily="34" charset="0"/>
                <a:ea typeface="Calibri" pitchFamily="34" charset="-122"/>
                <a:cs typeface="Calibri" pitchFamily="34" charset="-120"/>
              </a:rPr>
              <a:t>Telehealth, neonatal care, driver monitoring: no wearable, just a webcam already running.</a:t>
            </a:r>
            <a:endParaRPr lang="en-US" sz="1500" dirty="0"/>
          </a:p>
        </p:txBody>
      </p:sp>
      <p:sp>
        <p:nvSpPr>
          <p:cNvPr id="7" name="Shape 4"/>
          <p:cNvSpPr/>
          <p:nvPr/>
        </p:nvSpPr>
        <p:spPr>
          <a:xfrm>
            <a:off x="530352" y="3044952"/>
            <a:ext cx="457200" cy="457200"/>
          </a:xfrm>
          <a:prstGeom prst="ellipse">
            <a:avLst/>
          </a:prstGeom>
          <a:solidFill>
            <a:srgbClr val="0D1E30"/>
          </a:solidFill>
          <a:ln w="19050">
            <a:solidFill>
              <a:srgbClr val="38BDF8"/>
            </a:solidFill>
            <a:prstDash val="solid"/>
          </a:ln>
        </p:spPr>
      </p:sp>
      <p:pic>
        <p:nvPicPr>
          <p:cNvPr id="8" name="Image 1" descr="C:\Users\tausif\CSE 754\pptx_work\assets\Warning_38BDF8.png">    </p:cNvPr>
          <p:cNvPicPr>
            <a:picLocks noChangeAspect="1"/>
          </p:cNvPicPr>
          <p:nvPr/>
        </p:nvPicPr>
        <p:blipFill>
          <a:blip r:embed="rId2"/>
          <a:stretch>
            <a:fillRect/>
          </a:stretch>
        </p:blipFill>
        <p:spPr>
          <a:xfrm>
            <a:off x="653796" y="3168396"/>
            <a:ext cx="210312" cy="210312"/>
          </a:xfrm>
          <a:prstGeom prst="rect">
            <a:avLst/>
          </a:prstGeom>
        </p:spPr>
      </p:pic>
      <p:sp>
        <p:nvSpPr>
          <p:cNvPr id="9" name="Text 5"/>
          <p:cNvSpPr txBox="1"/>
          <p:nvPr/>
        </p:nvSpPr>
        <p:spPr>
          <a:xfrm>
            <a:off x="1097280" y="3017520"/>
            <a:ext cx="6126480" cy="594360"/>
          </a:xfrm>
          <a:prstGeom prst="rect">
            <a:avLst/>
          </a:prstGeom>
          <a:noFill/>
          <a:ln/>
        </p:spPr>
        <p:txBody>
          <a:bodyPr wrap="square" lIns="0" tIns="0" rIns="0" bIns="0" rtlCol="0" anchor="ctr"/>
          <a:lstStyle/>
          <a:p>
            <a:pPr indent="0" marL="0">
              <a:lnSpc>
                <a:spcPct val="125000"/>
              </a:lnSpc>
              <a:buNone/>
            </a:pPr>
            <a:r>
              <a:rPr lang="en-US" sz="1500" dirty="0">
                <a:solidFill>
                  <a:srgbClr val="EAF1F7"/>
                </a:solidFill>
                <a:latin typeface="Calibri" pitchFamily="34" charset="0"/>
                <a:ea typeface="Calibri" pitchFamily="34" charset="-122"/>
                <a:cs typeface="Calibri" pitchFamily="34" charset="-120"/>
              </a:rPr>
              <a:t>The signal is weak, easily corrupted by motion and lighting, and rarely audited for consistency.</a:t>
            </a:r>
            <a:endParaRPr lang="en-US" sz="1500" dirty="0"/>
          </a:p>
        </p:txBody>
      </p:sp>
      <p:sp>
        <p:nvSpPr>
          <p:cNvPr id="10" name="Shape 6"/>
          <p:cNvSpPr/>
          <p:nvPr/>
        </p:nvSpPr>
        <p:spPr>
          <a:xfrm>
            <a:off x="530352" y="3913632"/>
            <a:ext cx="457200" cy="457200"/>
          </a:xfrm>
          <a:prstGeom prst="ellipse">
            <a:avLst/>
          </a:prstGeom>
          <a:solidFill>
            <a:srgbClr val="0D1E30"/>
          </a:solidFill>
          <a:ln w="19050">
            <a:solidFill>
              <a:srgbClr val="38BDF8"/>
            </a:solidFill>
            <a:prstDash val="solid"/>
          </a:ln>
        </p:spPr>
      </p:sp>
      <p:pic>
        <p:nvPicPr>
          <p:cNvPr id="11" name="Image 2" descr="C:\Users\tausif\CSE 754\pptx_work\assets\Search_38BDF8.png">    </p:cNvPr>
          <p:cNvPicPr>
            <a:picLocks noChangeAspect="1"/>
          </p:cNvPicPr>
          <p:nvPr/>
        </p:nvPicPr>
        <p:blipFill>
          <a:blip r:embed="rId3"/>
          <a:stretch>
            <a:fillRect/>
          </a:stretch>
        </p:blipFill>
        <p:spPr>
          <a:xfrm>
            <a:off x="653796" y="4037076"/>
            <a:ext cx="210312" cy="210312"/>
          </a:xfrm>
          <a:prstGeom prst="rect">
            <a:avLst/>
          </a:prstGeom>
        </p:spPr>
      </p:pic>
      <p:sp>
        <p:nvSpPr>
          <p:cNvPr id="12" name="Text 7"/>
          <p:cNvSpPr txBox="1"/>
          <p:nvPr/>
        </p:nvSpPr>
        <p:spPr>
          <a:xfrm>
            <a:off x="1097280" y="3886200"/>
            <a:ext cx="6126480" cy="594360"/>
          </a:xfrm>
          <a:prstGeom prst="rect">
            <a:avLst/>
          </a:prstGeom>
          <a:noFill/>
          <a:ln/>
        </p:spPr>
        <p:txBody>
          <a:bodyPr wrap="square" lIns="0" tIns="0" rIns="0" bIns="0" rtlCol="0" anchor="ctr"/>
          <a:lstStyle/>
          <a:p>
            <a:pPr indent="0" marL="0">
              <a:lnSpc>
                <a:spcPct val="125000"/>
              </a:lnSpc>
              <a:buNone/>
            </a:pPr>
            <a:r>
              <a:rPr lang="en-US" sz="1500" dirty="0">
                <a:solidFill>
                  <a:srgbClr val="EAF1F7"/>
                </a:solidFill>
                <a:latin typeface="Calibri" pitchFamily="34" charset="0"/>
                <a:ea typeface="Calibri" pitchFamily="34" charset="-122"/>
                <a:cs typeface="Calibri" pitchFamily="34" charset="-120"/>
              </a:rPr>
              <a:t>Most published methods report one clean accuracy number, not whether it holds up everywhere.</a:t>
            </a:r>
            <a:endParaRPr lang="en-US" sz="1500" dirty="0"/>
          </a:p>
        </p:txBody>
      </p:sp>
      <p:sp>
        <p:nvSpPr>
          <p:cNvPr id="13" name="Shape 8"/>
          <p:cNvSpPr/>
          <p:nvPr/>
        </p:nvSpPr>
        <p:spPr>
          <a:xfrm>
            <a:off x="7406640" y="2011680"/>
            <a:ext cx="4279392" cy="2743200"/>
          </a:xfrm>
          <a:prstGeom prst="roundRect">
            <a:avLst>
              <a:gd name="adj" fmla="val 4667"/>
            </a:avLst>
          </a:prstGeom>
          <a:solidFill>
            <a:srgbClr val="0D1E30"/>
          </a:solidFill>
          <a:ln/>
        </p:spPr>
      </p:sp>
      <p:sp>
        <p:nvSpPr>
          <p:cNvPr id="14" name="Text 9"/>
          <p:cNvSpPr txBox="1"/>
          <p:nvPr/>
        </p:nvSpPr>
        <p:spPr>
          <a:xfrm>
            <a:off x="7680960" y="2240280"/>
            <a:ext cx="3749040" cy="320040"/>
          </a:xfrm>
          <a:prstGeom prst="rect">
            <a:avLst/>
          </a:prstGeom>
          <a:noFill/>
          <a:ln/>
        </p:spPr>
        <p:txBody>
          <a:bodyPr wrap="square" lIns="0" tIns="0" rIns="0" bIns="0" rtlCol="0" anchor="ctr"/>
          <a:lstStyle/>
          <a:p>
            <a:pPr indent="0" marL="0">
              <a:buNone/>
            </a:pPr>
            <a:r>
              <a:rPr lang="en-US" sz="1100" b="1" spc="100" kern="0" dirty="0">
                <a:solidFill>
                  <a:srgbClr val="8EA3B8"/>
                </a:solidFill>
                <a:latin typeface="Calibri" pitchFamily="34" charset="0"/>
                <a:ea typeface="Calibri" pitchFamily="34" charset="-122"/>
                <a:cs typeface="Calibri" pitchFamily="34" charset="-120"/>
              </a:rPr>
              <a:t>REPORTED ACCURACY GAP, PRIOR AUDITS</a:t>
            </a:r>
            <a:endParaRPr lang="en-US" sz="1100" dirty="0"/>
          </a:p>
        </p:txBody>
      </p:sp>
      <p:sp>
        <p:nvSpPr>
          <p:cNvPr id="15" name="Text 10"/>
          <p:cNvSpPr txBox="1"/>
          <p:nvPr/>
        </p:nvSpPr>
        <p:spPr>
          <a:xfrm>
            <a:off x="7680960" y="2606040"/>
            <a:ext cx="1828800" cy="685800"/>
          </a:xfrm>
          <a:prstGeom prst="rect">
            <a:avLst/>
          </a:prstGeom>
          <a:noFill/>
          <a:ln/>
        </p:spPr>
        <p:txBody>
          <a:bodyPr wrap="square" lIns="0" tIns="0" rIns="0" bIns="0" rtlCol="0" anchor="ctr"/>
          <a:lstStyle/>
          <a:p>
            <a:pPr indent="0" marL="0">
              <a:buNone/>
            </a:pPr>
            <a:r>
              <a:rPr lang="en-US" sz="4400" b="1" dirty="0">
                <a:solidFill>
                  <a:srgbClr val="2DD4BF"/>
                </a:solidFill>
                <a:latin typeface="Calibri" pitchFamily="34" charset="0"/>
                <a:ea typeface="Calibri" pitchFamily="34" charset="-122"/>
                <a:cs typeface="Calibri" pitchFamily="34" charset="-120"/>
              </a:rPr>
              <a:t>5.2</a:t>
            </a:r>
            <a:endParaRPr lang="en-US" sz="4400" dirty="0"/>
          </a:p>
        </p:txBody>
      </p:sp>
      <p:sp>
        <p:nvSpPr>
          <p:cNvPr id="16" name="Text 11"/>
          <p:cNvSpPr txBox="1"/>
          <p:nvPr/>
        </p:nvSpPr>
        <p:spPr>
          <a:xfrm>
            <a:off x="7680960" y="3246120"/>
            <a:ext cx="3749040" cy="274320"/>
          </a:xfrm>
          <a:prstGeom prst="rect">
            <a:avLst/>
          </a:prstGeom>
          <a:noFill/>
          <a:ln/>
        </p:spPr>
        <p:txBody>
          <a:bodyPr wrap="square" lIns="0" tIns="0" rIns="0" bIns="0" rtlCol="0" anchor="ctr"/>
          <a:lstStyle/>
          <a:p>
            <a:pPr indent="0" marL="0">
              <a:buNone/>
            </a:pPr>
            <a:r>
              <a:rPr lang="en-US" sz="1200" dirty="0">
                <a:solidFill>
                  <a:srgbClr val="8EA3B8"/>
                </a:solidFill>
                <a:latin typeface="Calibri" pitchFamily="34" charset="0"/>
                <a:ea typeface="Calibri" pitchFamily="34" charset="-122"/>
                <a:cs typeface="Calibri" pitchFamily="34" charset="-120"/>
              </a:rPr>
              <a:t>bpm error, easy case</a:t>
            </a:r>
            <a:endParaRPr lang="en-US" sz="1200" dirty="0"/>
          </a:p>
        </p:txBody>
      </p:sp>
      <p:sp>
        <p:nvSpPr>
          <p:cNvPr id="17" name="Text 12"/>
          <p:cNvSpPr txBox="1"/>
          <p:nvPr/>
        </p:nvSpPr>
        <p:spPr>
          <a:xfrm>
            <a:off x="7680960" y="3657600"/>
            <a:ext cx="1828800" cy="685800"/>
          </a:xfrm>
          <a:prstGeom prst="rect">
            <a:avLst/>
          </a:prstGeom>
          <a:noFill/>
          <a:ln/>
        </p:spPr>
        <p:txBody>
          <a:bodyPr wrap="square" lIns="0" tIns="0" rIns="0" bIns="0" rtlCol="0" anchor="ctr"/>
          <a:lstStyle/>
          <a:p>
            <a:pPr indent="0" marL="0">
              <a:buNone/>
            </a:pPr>
            <a:r>
              <a:rPr lang="en-US" sz="4400" b="1" dirty="0">
                <a:solidFill>
                  <a:srgbClr val="38BDF8"/>
                </a:solidFill>
                <a:latin typeface="Calibri" pitchFamily="34" charset="0"/>
                <a:ea typeface="Calibri" pitchFamily="34" charset="-122"/>
                <a:cs typeface="Calibri" pitchFamily="34" charset="-120"/>
              </a:rPr>
              <a:t>14.1</a:t>
            </a:r>
            <a:endParaRPr lang="en-US" sz="4400" dirty="0"/>
          </a:p>
        </p:txBody>
      </p:sp>
      <p:sp>
        <p:nvSpPr>
          <p:cNvPr id="18" name="Text 13"/>
          <p:cNvSpPr txBox="1"/>
          <p:nvPr/>
        </p:nvSpPr>
        <p:spPr>
          <a:xfrm>
            <a:off x="7680960" y="4297680"/>
            <a:ext cx="3749040" cy="274320"/>
          </a:xfrm>
          <a:prstGeom prst="rect">
            <a:avLst/>
          </a:prstGeom>
          <a:noFill/>
          <a:ln/>
        </p:spPr>
        <p:txBody>
          <a:bodyPr wrap="square" lIns="0" tIns="0" rIns="0" bIns="0" rtlCol="0" anchor="ctr"/>
          <a:lstStyle/>
          <a:p>
            <a:pPr indent="0" marL="0">
              <a:buNone/>
            </a:pPr>
            <a:r>
              <a:rPr lang="en-US" sz="1200" dirty="0">
                <a:solidFill>
                  <a:srgbClr val="8EA3B8"/>
                </a:solidFill>
                <a:latin typeface="Calibri" pitchFamily="34" charset="0"/>
                <a:ea typeface="Calibri" pitchFamily="34" charset="-122"/>
                <a:cs typeface="Calibri" pitchFamily="34" charset="-120"/>
              </a:rPr>
              <a:t>bpm error, harder case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1420"/>
        </a:solidFill>
      </p:bgPr>
    </p:bg>
    <p:spTree>
      <p:nvGrpSpPr>
        <p:cNvPr id="1" name=""/>
        <p:cNvGrpSpPr/>
        <p:nvPr/>
      </p:nvGrpSpPr>
      <p:grpSpPr>
        <a:xfrm>
          <a:off x="0" y="0"/>
          <a:ext cx="0" cy="0"/>
          <a:chOff x="0" y="0"/>
          <a:chExt cx="0" cy="0"/>
        </a:xfrm>
      </p:grpSpPr>
      <p:sp>
        <p:nvSpPr>
          <p:cNvPr id="2" name="Text 0"/>
          <p:cNvSpPr txBox="1"/>
          <p:nvPr/>
        </p:nvSpPr>
        <p:spPr>
          <a:xfrm>
            <a:off x="502920" y="365760"/>
            <a:ext cx="11185855" cy="292608"/>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02 · PROBLEM ADDRESSING</a:t>
            </a:r>
            <a:endParaRPr lang="en-US" sz="1200" dirty="0"/>
          </a:p>
        </p:txBody>
      </p:sp>
      <p:sp>
        <p:nvSpPr>
          <p:cNvPr id="3" name="Text 1"/>
          <p:cNvSpPr txBox="1"/>
          <p:nvPr/>
        </p:nvSpPr>
        <p:spPr>
          <a:xfrm>
            <a:off x="502920" y="658368"/>
            <a:ext cx="11185855" cy="822960"/>
          </a:xfrm>
          <a:prstGeom prst="rect">
            <a:avLst/>
          </a:prstGeom>
          <a:noFill/>
          <a:ln/>
        </p:spPr>
        <p:txBody>
          <a:bodyPr wrap="square" lIns="0" tIns="0" rIns="0" bIns="0" rtlCol="0" anchor="t"/>
          <a:lstStyle/>
          <a:p>
            <a:pPr indent="0" marL="0">
              <a:lnSpc>
                <a:spcPct val="105000"/>
              </a:lnSpc>
              <a:buNone/>
            </a:pPr>
            <a:r>
              <a:rPr lang="en-US" sz="2700" b="1" dirty="0">
                <a:solidFill>
                  <a:srgbClr val="EAF1F7"/>
                </a:solidFill>
                <a:latin typeface="Calibri" pitchFamily="34" charset="0"/>
                <a:ea typeface="Calibri" pitchFamily="34" charset="-122"/>
                <a:cs typeface="Calibri" pitchFamily="34" charset="-120"/>
              </a:rPr>
              <a:t>The Literature Gap: An Unaudited Intersection</a:t>
            </a:r>
            <a:endParaRPr lang="en-US" sz="2700" dirty="0"/>
          </a:p>
        </p:txBody>
      </p:sp>
      <p:sp>
        <p:nvSpPr>
          <p:cNvPr id="4" name="Shape 2"/>
          <p:cNvSpPr/>
          <p:nvPr/>
        </p:nvSpPr>
        <p:spPr>
          <a:xfrm>
            <a:off x="502920" y="1874520"/>
            <a:ext cx="3545738" cy="2331720"/>
          </a:xfrm>
          <a:prstGeom prst="roundRect">
            <a:avLst>
              <a:gd name="adj" fmla="val 5490"/>
            </a:avLst>
          </a:prstGeom>
          <a:solidFill>
            <a:srgbClr val="0D1E30"/>
          </a:solidFill>
          <a:ln/>
        </p:spPr>
      </p:sp>
      <p:pic>
        <p:nvPicPr>
          <p:cNvPr id="5" name="Image 0" descr="C:\Users\tausif\CSE 754\pptx_work\assets\Wrench_38BDF8.png">    </p:cNvPr>
          <p:cNvPicPr>
            <a:picLocks noChangeAspect="1"/>
          </p:cNvPicPr>
          <p:nvPr/>
        </p:nvPicPr>
        <p:blipFill>
          <a:blip r:embed="rId1"/>
          <a:stretch>
            <a:fillRect/>
          </a:stretch>
        </p:blipFill>
        <p:spPr>
          <a:xfrm>
            <a:off x="758952" y="2112264"/>
            <a:ext cx="365760" cy="365760"/>
          </a:xfrm>
          <a:prstGeom prst="rect">
            <a:avLst/>
          </a:prstGeom>
        </p:spPr>
      </p:pic>
      <p:sp>
        <p:nvSpPr>
          <p:cNvPr id="6" name="Text 3"/>
          <p:cNvSpPr txBox="1"/>
          <p:nvPr/>
        </p:nvSpPr>
        <p:spPr>
          <a:xfrm>
            <a:off x="758952" y="2587752"/>
            <a:ext cx="3033674" cy="365760"/>
          </a:xfrm>
          <a:prstGeom prst="rect">
            <a:avLst/>
          </a:prstGeom>
          <a:noFill/>
          <a:ln/>
        </p:spPr>
        <p:txBody>
          <a:bodyPr wrap="square" lIns="0" tIns="0" rIns="0" bIns="0" rtlCol="0" anchor="ctr"/>
          <a:lstStyle/>
          <a:p>
            <a:pPr indent="0" marL="0">
              <a:buNone/>
            </a:pPr>
            <a:r>
              <a:rPr lang="en-US" sz="1600" b="1" dirty="0">
                <a:solidFill>
                  <a:srgbClr val="EAF1F7"/>
                </a:solidFill>
                <a:latin typeface="Calibri" pitchFamily="34" charset="0"/>
                <a:ea typeface="Calibri" pitchFamily="34" charset="-122"/>
                <a:cs typeface="Calibri" pitchFamily="34" charset="-120"/>
              </a:rPr>
              <a:t>Robustness work</a:t>
            </a:r>
            <a:endParaRPr lang="en-US" sz="1600" dirty="0"/>
          </a:p>
        </p:txBody>
      </p:sp>
      <p:sp>
        <p:nvSpPr>
          <p:cNvPr id="7" name="Text 4"/>
          <p:cNvSpPr txBox="1"/>
          <p:nvPr/>
        </p:nvSpPr>
        <p:spPr>
          <a:xfrm>
            <a:off x="758952" y="2971800"/>
            <a:ext cx="3033674" cy="868680"/>
          </a:xfrm>
          <a:prstGeom prst="rect">
            <a:avLst/>
          </a:prstGeom>
          <a:noFill/>
          <a:ln/>
        </p:spPr>
        <p:txBody>
          <a:bodyPr wrap="square" lIns="0" tIns="0" rIns="0" bIns="0" rtlCol="0" anchor="ctr"/>
          <a:lstStyle/>
          <a:p>
            <a:pPr indent="0" marL="0">
              <a:lnSpc>
                <a:spcPct val="130000"/>
              </a:lnSpc>
              <a:buNone/>
            </a:pPr>
            <a:r>
              <a:rPr lang="en-US" sz="1200" dirty="0">
                <a:solidFill>
                  <a:srgbClr val="8EA3B8"/>
                </a:solidFill>
                <a:latin typeface="Calibri" pitchFamily="34" charset="0"/>
                <a:ea typeface="Calibri" pitchFamily="34" charset="-122"/>
                <a:cs typeface="Calibri" pitchFamily="34" charset="-120"/>
              </a:rPr>
              <a:t>Motion-tolerant &amp; compression-robust methods, never audited for fairness.</a:t>
            </a:r>
            <a:endParaRPr lang="en-US" sz="1200" dirty="0"/>
          </a:p>
        </p:txBody>
      </p:sp>
      <p:sp>
        <p:nvSpPr>
          <p:cNvPr id="8" name="Shape 5"/>
          <p:cNvSpPr/>
          <p:nvPr/>
        </p:nvSpPr>
        <p:spPr>
          <a:xfrm>
            <a:off x="758952" y="3730752"/>
            <a:ext cx="3033674" cy="292608"/>
          </a:xfrm>
          <a:prstGeom prst="roundRect">
            <a:avLst>
              <a:gd name="adj" fmla="val 25000"/>
            </a:avLst>
          </a:prstGeom>
          <a:solidFill>
            <a:srgbClr val="12314E"/>
          </a:solidFill>
          <a:ln/>
        </p:spPr>
      </p:sp>
      <p:sp>
        <p:nvSpPr>
          <p:cNvPr id="9" name="Text 6"/>
          <p:cNvSpPr txBox="1"/>
          <p:nvPr/>
        </p:nvSpPr>
        <p:spPr>
          <a:xfrm>
            <a:off x="758952" y="3730752"/>
            <a:ext cx="3033674" cy="292608"/>
          </a:xfrm>
          <a:prstGeom prst="rect">
            <a:avLst/>
          </a:prstGeom>
          <a:noFill/>
          <a:ln/>
        </p:spPr>
        <p:txBody>
          <a:bodyPr wrap="square" lIns="0" tIns="0" rIns="0" bIns="0" rtlCol="0" anchor="ctr"/>
          <a:lstStyle/>
          <a:p>
            <a:pPr algn="ctr" indent="0" marL="0">
              <a:buNone/>
            </a:pPr>
            <a:r>
              <a:rPr lang="en-US" sz="900" b="1" spc="50" kern="0" dirty="0">
                <a:solidFill>
                  <a:srgbClr val="38BDF8"/>
                </a:solidFill>
                <a:latin typeface="Calibri" pitchFamily="34" charset="0"/>
                <a:ea typeface="Calibri" pitchFamily="34" charset="-122"/>
                <a:cs typeface="Calibri" pitchFamily="34" charset="-120"/>
              </a:rPr>
              <a:t>TULYAKOV 2016 · YU 2019</a:t>
            </a:r>
            <a:endParaRPr lang="en-US" sz="900" dirty="0"/>
          </a:p>
        </p:txBody>
      </p:sp>
      <p:sp>
        <p:nvSpPr>
          <p:cNvPr id="10" name="Shape 7"/>
          <p:cNvSpPr/>
          <p:nvPr/>
        </p:nvSpPr>
        <p:spPr>
          <a:xfrm>
            <a:off x="4322978" y="1874520"/>
            <a:ext cx="3545738" cy="2331720"/>
          </a:xfrm>
          <a:prstGeom prst="roundRect">
            <a:avLst>
              <a:gd name="adj" fmla="val 5490"/>
            </a:avLst>
          </a:prstGeom>
          <a:solidFill>
            <a:srgbClr val="0D1E30"/>
          </a:solidFill>
          <a:ln/>
        </p:spPr>
      </p:sp>
      <p:pic>
        <p:nvPicPr>
          <p:cNvPr id="11" name="Image 1" descr="C:\Users\tausif\CSE 754\pptx_work\assets\Lightning_2DD4BF.png">    </p:cNvPr>
          <p:cNvPicPr>
            <a:picLocks noChangeAspect="1"/>
          </p:cNvPicPr>
          <p:nvPr/>
        </p:nvPicPr>
        <p:blipFill>
          <a:blip r:embed="rId2"/>
          <a:stretch>
            <a:fillRect/>
          </a:stretch>
        </p:blipFill>
        <p:spPr>
          <a:xfrm>
            <a:off x="4579010" y="2112264"/>
            <a:ext cx="365760" cy="365760"/>
          </a:xfrm>
          <a:prstGeom prst="rect">
            <a:avLst/>
          </a:prstGeom>
        </p:spPr>
      </p:pic>
      <p:sp>
        <p:nvSpPr>
          <p:cNvPr id="12" name="Text 8"/>
          <p:cNvSpPr txBox="1"/>
          <p:nvPr/>
        </p:nvSpPr>
        <p:spPr>
          <a:xfrm>
            <a:off x="4579010" y="2587752"/>
            <a:ext cx="3033674" cy="365760"/>
          </a:xfrm>
          <a:prstGeom prst="rect">
            <a:avLst/>
          </a:prstGeom>
          <a:noFill/>
          <a:ln/>
        </p:spPr>
        <p:txBody>
          <a:bodyPr wrap="square" lIns="0" tIns="0" rIns="0" bIns="0" rtlCol="0" anchor="ctr"/>
          <a:lstStyle/>
          <a:p>
            <a:pPr indent="0" marL="0">
              <a:buNone/>
            </a:pPr>
            <a:r>
              <a:rPr lang="en-US" sz="1600" b="1" dirty="0">
                <a:solidFill>
                  <a:srgbClr val="EAF1F7"/>
                </a:solidFill>
                <a:latin typeface="Calibri" pitchFamily="34" charset="0"/>
                <a:ea typeface="Calibri" pitchFamily="34" charset="-122"/>
                <a:cs typeface="Calibri" pitchFamily="34" charset="-120"/>
              </a:rPr>
              <a:t>Label-free learning</a:t>
            </a:r>
            <a:endParaRPr lang="en-US" sz="1600" dirty="0"/>
          </a:p>
        </p:txBody>
      </p:sp>
      <p:sp>
        <p:nvSpPr>
          <p:cNvPr id="13" name="Text 9"/>
          <p:cNvSpPr txBox="1"/>
          <p:nvPr/>
        </p:nvSpPr>
        <p:spPr>
          <a:xfrm>
            <a:off x="4579010" y="2971800"/>
            <a:ext cx="3033674" cy="868680"/>
          </a:xfrm>
          <a:prstGeom prst="rect">
            <a:avLst/>
          </a:prstGeom>
          <a:noFill/>
          <a:ln/>
        </p:spPr>
        <p:txBody>
          <a:bodyPr wrap="square" lIns="0" tIns="0" rIns="0" bIns="0" rtlCol="0" anchor="ctr"/>
          <a:lstStyle/>
          <a:p>
            <a:pPr indent="0" marL="0">
              <a:lnSpc>
                <a:spcPct val="130000"/>
              </a:lnSpc>
              <a:buNone/>
            </a:pPr>
            <a:r>
              <a:rPr lang="en-US" sz="1200" dirty="0">
                <a:solidFill>
                  <a:srgbClr val="8EA3B8"/>
                </a:solidFill>
                <a:latin typeface="Calibri" pitchFamily="34" charset="0"/>
                <a:ea typeface="Calibri" pitchFamily="34" charset="-122"/>
                <a:cs typeface="Calibri" pitchFamily="34" charset="-120"/>
              </a:rPr>
              <a:t>Unsupervised, state-of-the-art accuracy, never audited for fairness.</a:t>
            </a:r>
            <a:endParaRPr lang="en-US" sz="1200" dirty="0"/>
          </a:p>
        </p:txBody>
      </p:sp>
      <p:sp>
        <p:nvSpPr>
          <p:cNvPr id="14" name="Shape 10"/>
          <p:cNvSpPr/>
          <p:nvPr/>
        </p:nvSpPr>
        <p:spPr>
          <a:xfrm>
            <a:off x="4579010" y="3730752"/>
            <a:ext cx="3033674" cy="292608"/>
          </a:xfrm>
          <a:prstGeom prst="roundRect">
            <a:avLst>
              <a:gd name="adj" fmla="val 25000"/>
            </a:avLst>
          </a:prstGeom>
          <a:solidFill>
            <a:srgbClr val="0D2A22"/>
          </a:solidFill>
          <a:ln/>
        </p:spPr>
      </p:sp>
      <p:sp>
        <p:nvSpPr>
          <p:cNvPr id="15" name="Text 11"/>
          <p:cNvSpPr txBox="1"/>
          <p:nvPr/>
        </p:nvSpPr>
        <p:spPr>
          <a:xfrm>
            <a:off x="4579010" y="3730752"/>
            <a:ext cx="3033674" cy="292608"/>
          </a:xfrm>
          <a:prstGeom prst="rect">
            <a:avLst/>
          </a:prstGeom>
          <a:noFill/>
          <a:ln/>
        </p:spPr>
        <p:txBody>
          <a:bodyPr wrap="square" lIns="0" tIns="0" rIns="0" bIns="0" rtlCol="0" anchor="ctr"/>
          <a:lstStyle/>
          <a:p>
            <a:pPr algn="ctr" indent="0" marL="0">
              <a:buNone/>
            </a:pPr>
            <a:r>
              <a:rPr lang="en-US" sz="900" b="1" spc="50" kern="0" dirty="0">
                <a:solidFill>
                  <a:srgbClr val="2DD4BF"/>
                </a:solidFill>
                <a:latin typeface="Calibri" pitchFamily="34" charset="0"/>
                <a:ea typeface="Calibri" pitchFamily="34" charset="-122"/>
                <a:cs typeface="Calibri" pitchFamily="34" charset="-120"/>
              </a:rPr>
              <a:t>SUN &amp; LI 2022 / 2024</a:t>
            </a:r>
            <a:endParaRPr lang="en-US" sz="900" dirty="0"/>
          </a:p>
        </p:txBody>
      </p:sp>
      <p:sp>
        <p:nvSpPr>
          <p:cNvPr id="16" name="Shape 12"/>
          <p:cNvSpPr/>
          <p:nvPr/>
        </p:nvSpPr>
        <p:spPr>
          <a:xfrm>
            <a:off x="8143037" y="1874520"/>
            <a:ext cx="3545738" cy="2331720"/>
          </a:xfrm>
          <a:prstGeom prst="roundRect">
            <a:avLst>
              <a:gd name="adj" fmla="val 5490"/>
            </a:avLst>
          </a:prstGeom>
          <a:solidFill>
            <a:srgbClr val="0D1E30"/>
          </a:solidFill>
          <a:ln/>
        </p:spPr>
      </p:sp>
      <p:pic>
        <p:nvPicPr>
          <p:cNvPr id="17" name="Image 2" descr="C:\Users\tausif\CSE 754\pptx_work\assets\Chart_FBBF24.png">    </p:cNvPr>
          <p:cNvPicPr>
            <a:picLocks noChangeAspect="1"/>
          </p:cNvPicPr>
          <p:nvPr/>
        </p:nvPicPr>
        <p:blipFill>
          <a:blip r:embed="rId3"/>
          <a:stretch>
            <a:fillRect/>
          </a:stretch>
        </p:blipFill>
        <p:spPr>
          <a:xfrm>
            <a:off x="8399069" y="2112264"/>
            <a:ext cx="365760" cy="365760"/>
          </a:xfrm>
          <a:prstGeom prst="rect">
            <a:avLst/>
          </a:prstGeom>
        </p:spPr>
      </p:pic>
      <p:sp>
        <p:nvSpPr>
          <p:cNvPr id="18" name="Text 13"/>
          <p:cNvSpPr txBox="1"/>
          <p:nvPr/>
        </p:nvSpPr>
        <p:spPr>
          <a:xfrm>
            <a:off x="8399069" y="2587752"/>
            <a:ext cx="3033674" cy="365760"/>
          </a:xfrm>
          <a:prstGeom prst="rect">
            <a:avLst/>
          </a:prstGeom>
          <a:noFill/>
          <a:ln/>
        </p:spPr>
        <p:txBody>
          <a:bodyPr wrap="square" lIns="0" tIns="0" rIns="0" bIns="0" rtlCol="0" anchor="ctr"/>
          <a:lstStyle/>
          <a:p>
            <a:pPr indent="0" marL="0">
              <a:buNone/>
            </a:pPr>
            <a:r>
              <a:rPr lang="en-US" sz="1600" b="1" dirty="0">
                <a:solidFill>
                  <a:srgbClr val="EAF1F7"/>
                </a:solidFill>
                <a:latin typeface="Calibri" pitchFamily="34" charset="0"/>
                <a:ea typeface="Calibri" pitchFamily="34" charset="-122"/>
                <a:cs typeface="Calibri" pitchFamily="34" charset="-120"/>
              </a:rPr>
              <a:t>Fairness audit (2025)</a:t>
            </a:r>
            <a:endParaRPr lang="en-US" sz="1600" dirty="0"/>
          </a:p>
        </p:txBody>
      </p:sp>
      <p:sp>
        <p:nvSpPr>
          <p:cNvPr id="19" name="Text 14"/>
          <p:cNvSpPr txBox="1"/>
          <p:nvPr/>
        </p:nvSpPr>
        <p:spPr>
          <a:xfrm>
            <a:off x="8399069" y="2971800"/>
            <a:ext cx="3033674" cy="868680"/>
          </a:xfrm>
          <a:prstGeom prst="rect">
            <a:avLst/>
          </a:prstGeom>
          <a:noFill/>
          <a:ln/>
        </p:spPr>
        <p:txBody>
          <a:bodyPr wrap="square" lIns="0" tIns="0" rIns="0" bIns="0" rtlCol="0" anchor="ctr"/>
          <a:lstStyle/>
          <a:p>
            <a:pPr indent="0" marL="0">
              <a:lnSpc>
                <a:spcPct val="130000"/>
              </a:lnSpc>
              <a:buNone/>
            </a:pPr>
            <a:r>
              <a:rPr lang="en-US" sz="1200" dirty="0">
                <a:solidFill>
                  <a:srgbClr val="8EA3B8"/>
                </a:solidFill>
                <a:latin typeface="Calibri" pitchFamily="34" charset="0"/>
                <a:ea typeface="Calibri" pitchFamily="34" charset="-122"/>
                <a:cs typeface="Calibri" pitchFamily="34" charset="-120"/>
              </a:rPr>
              <a:t>Confirms demographic bias across the field's datasets; audits, proposes no fix.</a:t>
            </a:r>
            <a:endParaRPr lang="en-US" sz="1200" dirty="0"/>
          </a:p>
        </p:txBody>
      </p:sp>
      <p:sp>
        <p:nvSpPr>
          <p:cNvPr id="20" name="Shape 15"/>
          <p:cNvSpPr/>
          <p:nvPr/>
        </p:nvSpPr>
        <p:spPr>
          <a:xfrm>
            <a:off x="8399069" y="3730752"/>
            <a:ext cx="3033674" cy="292608"/>
          </a:xfrm>
          <a:prstGeom prst="roundRect">
            <a:avLst>
              <a:gd name="adj" fmla="val 25000"/>
            </a:avLst>
          </a:prstGeom>
          <a:solidFill>
            <a:srgbClr val="2E2410"/>
          </a:solidFill>
          <a:ln/>
        </p:spPr>
      </p:sp>
      <p:sp>
        <p:nvSpPr>
          <p:cNvPr id="21" name="Text 16"/>
          <p:cNvSpPr txBox="1"/>
          <p:nvPr/>
        </p:nvSpPr>
        <p:spPr>
          <a:xfrm>
            <a:off x="8399069" y="3730752"/>
            <a:ext cx="3033674" cy="292608"/>
          </a:xfrm>
          <a:prstGeom prst="rect">
            <a:avLst/>
          </a:prstGeom>
          <a:noFill/>
          <a:ln/>
        </p:spPr>
        <p:txBody>
          <a:bodyPr wrap="square" lIns="0" tIns="0" rIns="0" bIns="0" rtlCol="0" anchor="ctr"/>
          <a:lstStyle/>
          <a:p>
            <a:pPr algn="ctr" indent="0" marL="0">
              <a:buNone/>
            </a:pPr>
            <a:r>
              <a:rPr lang="en-US" sz="900" b="1" spc="50" kern="0" dirty="0">
                <a:solidFill>
                  <a:srgbClr val="FBBF24"/>
                </a:solidFill>
                <a:latin typeface="Calibri" pitchFamily="34" charset="0"/>
                <a:ea typeface="Calibri" pitchFamily="34" charset="-122"/>
                <a:cs typeface="Calibri" pitchFamily="34" charset="-120"/>
              </a:rPr>
              <a:t>BONDARENKO ET AL.</a:t>
            </a:r>
            <a:endParaRPr lang="en-US" sz="900" dirty="0"/>
          </a:p>
        </p:txBody>
      </p:sp>
      <p:sp>
        <p:nvSpPr>
          <p:cNvPr id="22" name="Shape 17"/>
          <p:cNvSpPr/>
          <p:nvPr/>
        </p:nvSpPr>
        <p:spPr>
          <a:xfrm>
            <a:off x="502920" y="4434840"/>
            <a:ext cx="11185855" cy="777240"/>
          </a:xfrm>
          <a:prstGeom prst="roundRect">
            <a:avLst>
              <a:gd name="adj" fmla="val 14118"/>
            </a:avLst>
          </a:prstGeom>
          <a:solidFill>
            <a:srgbClr val="0A1A2C"/>
          </a:solidFill>
          <a:ln/>
        </p:spPr>
      </p:sp>
      <p:pic>
        <p:nvPicPr>
          <p:cNvPr id="23" name="Image 3" descr="C:\Users\tausif\CSE 754\pptx_work\assets\Search_2DD4BF.png">    </p:cNvPr>
          <p:cNvPicPr>
            <a:picLocks noChangeAspect="1"/>
          </p:cNvPicPr>
          <p:nvPr/>
        </p:nvPicPr>
        <p:blipFill>
          <a:blip r:embed="rId4"/>
          <a:stretch>
            <a:fillRect/>
          </a:stretch>
        </p:blipFill>
        <p:spPr>
          <a:xfrm>
            <a:off x="704088" y="4686300"/>
            <a:ext cx="274320" cy="274320"/>
          </a:xfrm>
          <a:prstGeom prst="rect">
            <a:avLst/>
          </a:prstGeom>
        </p:spPr>
      </p:pic>
      <p:sp>
        <p:nvSpPr>
          <p:cNvPr id="24" name="Text 18"/>
          <p:cNvSpPr txBox="1"/>
          <p:nvPr/>
        </p:nvSpPr>
        <p:spPr>
          <a:xfrm>
            <a:off x="1143000" y="4480560"/>
            <a:ext cx="10271455" cy="685800"/>
          </a:xfrm>
          <a:prstGeom prst="rect">
            <a:avLst/>
          </a:prstGeom>
          <a:noFill/>
          <a:ln/>
        </p:spPr>
        <p:txBody>
          <a:bodyPr wrap="square" lIns="0" tIns="0" rIns="0" bIns="0" rtlCol="0" anchor="ctr"/>
          <a:lstStyle/>
          <a:p>
            <a:pPr indent="0" marL="0">
              <a:lnSpc>
                <a:spcPct val="115000"/>
              </a:lnSpc>
              <a:buNone/>
            </a:pPr>
            <a:r>
              <a:rPr lang="en-US" sz="1450" dirty="0">
                <a:solidFill>
                  <a:srgbClr val="EAF1F7"/>
                </a:solidFill>
                <a:latin typeface="Calibri" pitchFamily="34" charset="0"/>
                <a:ea typeface="Calibri" pitchFamily="34" charset="-122"/>
                <a:cs typeface="Calibri" pitchFamily="34" charset="-120"/>
              </a:rPr>
              <a:t>No published work is robustness-tested AND fairness-audited on the same model, same protocol. That's the gap this project targets.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1420"/>
        </a:solidFill>
      </p:bgPr>
    </p:bg>
    <p:spTree>
      <p:nvGrpSpPr>
        <p:cNvPr id="1" name=""/>
        <p:cNvGrpSpPr/>
        <p:nvPr/>
      </p:nvGrpSpPr>
      <p:grpSpPr>
        <a:xfrm>
          <a:off x="0" y="0"/>
          <a:ext cx="0" cy="0"/>
          <a:chOff x="0" y="0"/>
          <a:chExt cx="0" cy="0"/>
        </a:xfrm>
      </p:grpSpPr>
      <p:sp>
        <p:nvSpPr>
          <p:cNvPr id="2" name="Text 0"/>
          <p:cNvSpPr txBox="1"/>
          <p:nvPr/>
        </p:nvSpPr>
        <p:spPr>
          <a:xfrm>
            <a:off x="502920" y="365760"/>
            <a:ext cx="11185855" cy="292608"/>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02 · PROBLEM ADDRESSING</a:t>
            </a:r>
            <a:endParaRPr lang="en-US" sz="1200" dirty="0"/>
          </a:p>
        </p:txBody>
      </p:sp>
      <p:sp>
        <p:nvSpPr>
          <p:cNvPr id="3" name="Text 1"/>
          <p:cNvSpPr txBox="1"/>
          <p:nvPr/>
        </p:nvSpPr>
        <p:spPr>
          <a:xfrm>
            <a:off x="502920" y="658368"/>
            <a:ext cx="11185855" cy="822960"/>
          </a:xfrm>
          <a:prstGeom prst="rect">
            <a:avLst/>
          </a:prstGeom>
          <a:noFill/>
          <a:ln/>
        </p:spPr>
        <p:txBody>
          <a:bodyPr wrap="square" lIns="0" tIns="0" rIns="0" bIns="0" rtlCol="0" anchor="t"/>
          <a:lstStyle/>
          <a:p>
            <a:pPr indent="0" marL="0">
              <a:lnSpc>
                <a:spcPct val="105000"/>
              </a:lnSpc>
              <a:buNone/>
            </a:pPr>
            <a:r>
              <a:rPr lang="en-US" sz="2700" b="1" dirty="0">
                <a:solidFill>
                  <a:srgbClr val="EAF1F7"/>
                </a:solidFill>
                <a:latin typeface="Calibri" pitchFamily="34" charset="0"/>
                <a:ea typeface="Calibri" pitchFamily="34" charset="-122"/>
                <a:cs typeface="Calibri" pitchFamily="34" charset="-120"/>
              </a:rPr>
              <a:t>Problem Statement and Research Scope</a:t>
            </a:r>
            <a:endParaRPr lang="en-US" sz="2700" dirty="0"/>
          </a:p>
        </p:txBody>
      </p:sp>
      <p:sp>
        <p:nvSpPr>
          <p:cNvPr id="4" name="Shape 2"/>
          <p:cNvSpPr/>
          <p:nvPr/>
        </p:nvSpPr>
        <p:spPr>
          <a:xfrm>
            <a:off x="822960" y="2798064"/>
            <a:ext cx="10545775" cy="0"/>
          </a:xfrm>
          <a:prstGeom prst="line">
            <a:avLst/>
          </a:prstGeom>
          <a:noFill/>
          <a:ln w="19050">
            <a:solidFill>
              <a:srgbClr val="38BDF8"/>
            </a:solidFill>
            <a:prstDash val="solid"/>
          </a:ln>
        </p:spPr>
      </p:sp>
      <p:sp>
        <p:nvSpPr>
          <p:cNvPr id="5" name="Shape 3"/>
          <p:cNvSpPr/>
          <p:nvPr/>
        </p:nvSpPr>
        <p:spPr>
          <a:xfrm>
            <a:off x="2010613" y="1828800"/>
            <a:ext cx="713232" cy="713232"/>
          </a:xfrm>
          <a:prstGeom prst="ellipse">
            <a:avLst/>
          </a:prstGeom>
          <a:solidFill>
            <a:srgbClr val="0D1E30"/>
          </a:solidFill>
          <a:ln w="19050">
            <a:solidFill>
              <a:srgbClr val="38BDF8"/>
            </a:solidFill>
            <a:prstDash val="solid"/>
          </a:ln>
        </p:spPr>
      </p:sp>
      <p:pic>
        <p:nvPicPr>
          <p:cNvPr id="6" name="Image 0" descr="C:\Users\tausif\CSE 754\pptx_work\assets\Verified_38BDF8.png">    </p:cNvPr>
          <p:cNvPicPr>
            <a:picLocks noChangeAspect="1"/>
          </p:cNvPicPr>
          <p:nvPr/>
        </p:nvPicPr>
        <p:blipFill>
          <a:blip r:embed="rId1"/>
          <a:stretch>
            <a:fillRect/>
          </a:stretch>
        </p:blipFill>
        <p:spPr>
          <a:xfrm>
            <a:off x="2203186" y="2021373"/>
            <a:ext cx="328087" cy="328087"/>
          </a:xfrm>
          <a:prstGeom prst="rect">
            <a:avLst/>
          </a:prstGeom>
        </p:spPr>
      </p:pic>
      <p:sp>
        <p:nvSpPr>
          <p:cNvPr id="7" name="Text 4"/>
          <p:cNvSpPr txBox="1"/>
          <p:nvPr/>
        </p:nvSpPr>
        <p:spPr>
          <a:xfrm>
            <a:off x="612648" y="2907792"/>
            <a:ext cx="3509162" cy="237744"/>
          </a:xfrm>
          <a:prstGeom prst="rect">
            <a:avLst/>
          </a:prstGeom>
          <a:noFill/>
          <a:ln/>
        </p:spPr>
        <p:txBody>
          <a:bodyPr wrap="square" lIns="0" tIns="0" rIns="0" bIns="0" rtlCol="0" anchor="ctr"/>
          <a:lstStyle/>
          <a:p>
            <a:pPr algn="ctr" indent="0" marL="0">
              <a:buNone/>
            </a:pPr>
            <a:r>
              <a:rPr lang="en-US" sz="1000" b="1" spc="100" kern="0" dirty="0">
                <a:solidFill>
                  <a:srgbClr val="38BDF8"/>
                </a:solidFill>
                <a:latin typeface="Calibri" pitchFamily="34" charset="0"/>
                <a:ea typeface="Calibri" pitchFamily="34" charset="-122"/>
                <a:cs typeface="Calibri" pitchFamily="34" charset="-120"/>
              </a:rPr>
              <a:t>RQ1</a:t>
            </a:r>
            <a:endParaRPr lang="en-US" sz="1000" dirty="0"/>
          </a:p>
        </p:txBody>
      </p:sp>
      <p:sp>
        <p:nvSpPr>
          <p:cNvPr id="8" name="Text 5"/>
          <p:cNvSpPr txBox="1"/>
          <p:nvPr/>
        </p:nvSpPr>
        <p:spPr>
          <a:xfrm>
            <a:off x="594360" y="3182112"/>
            <a:ext cx="3545738" cy="365760"/>
          </a:xfrm>
          <a:prstGeom prst="rect">
            <a:avLst/>
          </a:prstGeom>
          <a:noFill/>
          <a:ln/>
        </p:spPr>
        <p:txBody>
          <a:bodyPr wrap="square" lIns="0" tIns="0" rIns="0" bIns="0" rtlCol="0" anchor="ctr"/>
          <a:lstStyle/>
          <a:p>
            <a:pPr algn="ctr" indent="0" marL="0">
              <a:buNone/>
            </a:pPr>
            <a:r>
              <a:rPr lang="en-US" sz="1400" b="1" dirty="0">
                <a:solidFill>
                  <a:srgbClr val="EAF1F7"/>
                </a:solidFill>
                <a:latin typeface="Calibri" pitchFamily="34" charset="0"/>
                <a:ea typeface="Calibri" pitchFamily="34" charset="-122"/>
                <a:cs typeface="Calibri" pitchFamily="34" charset="-120"/>
              </a:rPr>
              <a:t>Reproduce it correctly</a:t>
            </a:r>
            <a:endParaRPr lang="en-US" sz="1400" dirty="0"/>
          </a:p>
        </p:txBody>
      </p:sp>
      <p:sp>
        <p:nvSpPr>
          <p:cNvPr id="9" name="Text 6"/>
          <p:cNvSpPr txBox="1"/>
          <p:nvPr/>
        </p:nvSpPr>
        <p:spPr>
          <a:xfrm>
            <a:off x="612648" y="3566160"/>
            <a:ext cx="3509162" cy="777240"/>
          </a:xfrm>
          <a:prstGeom prst="rect">
            <a:avLst/>
          </a:prstGeom>
          <a:noFill/>
          <a:ln/>
        </p:spPr>
        <p:txBody>
          <a:bodyPr wrap="square" lIns="0" tIns="0" rIns="0" bIns="0" rtlCol="0" anchor="ctr"/>
          <a:lstStyle/>
          <a:p>
            <a:pPr algn="ctr" indent="0" marL="0">
              <a:lnSpc>
                <a:spcPct val="125000"/>
              </a:lnSpc>
              <a:buNone/>
            </a:pPr>
            <a:r>
              <a:rPr lang="en-US" sz="1050" dirty="0">
                <a:solidFill>
                  <a:srgbClr val="8EA3B8"/>
                </a:solidFill>
                <a:latin typeface="Calibri" pitchFamily="34" charset="0"/>
                <a:ea typeface="Calibri" pitchFamily="34" charset="-122"/>
                <a:cs typeface="Calibri" pitchFamily="34" charset="-120"/>
              </a:rPr>
              <a:t>Can classical and deep rPPG baselines be independently reproduced to published accuracy?</a:t>
            </a:r>
            <a:endParaRPr lang="en-US" sz="1050" dirty="0"/>
          </a:p>
        </p:txBody>
      </p:sp>
      <p:sp>
        <p:nvSpPr>
          <p:cNvPr id="10" name="Shape 7"/>
          <p:cNvSpPr/>
          <p:nvPr/>
        </p:nvSpPr>
        <p:spPr>
          <a:xfrm>
            <a:off x="5739232" y="1828800"/>
            <a:ext cx="713232" cy="713232"/>
          </a:xfrm>
          <a:prstGeom prst="ellipse">
            <a:avLst/>
          </a:prstGeom>
          <a:solidFill>
            <a:srgbClr val="0D1E30"/>
          </a:solidFill>
          <a:ln w="19050">
            <a:solidFill>
              <a:srgbClr val="2DD4BF"/>
            </a:solidFill>
            <a:prstDash val="solid"/>
          </a:ln>
        </p:spPr>
      </p:sp>
      <p:pic>
        <p:nvPicPr>
          <p:cNvPr id="11" name="Image 1" descr="C:\Users\tausif\CSE 754\pptx_work\assets\Activity_2DD4BF.png">    </p:cNvPr>
          <p:cNvPicPr>
            <a:picLocks noChangeAspect="1"/>
          </p:cNvPicPr>
          <p:nvPr/>
        </p:nvPicPr>
        <p:blipFill>
          <a:blip r:embed="rId2"/>
          <a:stretch>
            <a:fillRect/>
          </a:stretch>
        </p:blipFill>
        <p:spPr>
          <a:xfrm>
            <a:off x="5931804" y="2021373"/>
            <a:ext cx="328087" cy="328087"/>
          </a:xfrm>
          <a:prstGeom prst="rect">
            <a:avLst/>
          </a:prstGeom>
        </p:spPr>
      </p:pic>
      <p:sp>
        <p:nvSpPr>
          <p:cNvPr id="12" name="Text 8"/>
          <p:cNvSpPr txBox="1"/>
          <p:nvPr/>
        </p:nvSpPr>
        <p:spPr>
          <a:xfrm>
            <a:off x="4341266" y="2907792"/>
            <a:ext cx="3509162" cy="237744"/>
          </a:xfrm>
          <a:prstGeom prst="rect">
            <a:avLst/>
          </a:prstGeom>
          <a:noFill/>
          <a:ln/>
        </p:spPr>
        <p:txBody>
          <a:bodyPr wrap="square" lIns="0" tIns="0" rIns="0" bIns="0" rtlCol="0" anchor="ctr"/>
          <a:lstStyle/>
          <a:p>
            <a:pPr algn="ctr" indent="0" marL="0">
              <a:buNone/>
            </a:pPr>
            <a:r>
              <a:rPr lang="en-US" sz="1000" b="1" spc="100" kern="0" dirty="0">
                <a:solidFill>
                  <a:srgbClr val="2DD4BF"/>
                </a:solidFill>
                <a:latin typeface="Calibri" pitchFamily="34" charset="0"/>
                <a:ea typeface="Calibri" pitchFamily="34" charset="-122"/>
                <a:cs typeface="Calibri" pitchFamily="34" charset="-120"/>
              </a:rPr>
              <a:t>RQ2</a:t>
            </a:r>
            <a:endParaRPr lang="en-US" sz="1000" dirty="0"/>
          </a:p>
        </p:txBody>
      </p:sp>
      <p:sp>
        <p:nvSpPr>
          <p:cNvPr id="13" name="Text 9"/>
          <p:cNvSpPr txBox="1"/>
          <p:nvPr/>
        </p:nvSpPr>
        <p:spPr>
          <a:xfrm>
            <a:off x="4322978" y="3182112"/>
            <a:ext cx="3545738" cy="365760"/>
          </a:xfrm>
          <a:prstGeom prst="rect">
            <a:avLst/>
          </a:prstGeom>
          <a:noFill/>
          <a:ln/>
        </p:spPr>
        <p:txBody>
          <a:bodyPr wrap="square" lIns="0" tIns="0" rIns="0" bIns="0" rtlCol="0" anchor="ctr"/>
          <a:lstStyle/>
          <a:p>
            <a:pPr algn="ctr" indent="0" marL="0">
              <a:buNone/>
            </a:pPr>
            <a:r>
              <a:rPr lang="en-US" sz="1400" b="1" dirty="0">
                <a:solidFill>
                  <a:srgbClr val="EAF1F7"/>
                </a:solidFill>
                <a:latin typeface="Calibri" pitchFamily="34" charset="0"/>
                <a:ea typeface="Calibri" pitchFamily="34" charset="-122"/>
                <a:cs typeface="Calibri" pitchFamily="34" charset="-120"/>
              </a:rPr>
              <a:t>Test a real condition shift</a:t>
            </a:r>
            <a:endParaRPr lang="en-US" sz="1400" dirty="0"/>
          </a:p>
        </p:txBody>
      </p:sp>
      <p:sp>
        <p:nvSpPr>
          <p:cNvPr id="14" name="Text 10"/>
          <p:cNvSpPr txBox="1"/>
          <p:nvPr/>
        </p:nvSpPr>
        <p:spPr>
          <a:xfrm>
            <a:off x="4341266" y="3566160"/>
            <a:ext cx="3509162" cy="777240"/>
          </a:xfrm>
          <a:prstGeom prst="rect">
            <a:avLst/>
          </a:prstGeom>
          <a:noFill/>
          <a:ln/>
        </p:spPr>
        <p:txBody>
          <a:bodyPr wrap="square" lIns="0" tIns="0" rIns="0" bIns="0" rtlCol="0" anchor="ctr"/>
          <a:lstStyle/>
          <a:p>
            <a:pPr algn="ctr" indent="0" marL="0">
              <a:lnSpc>
                <a:spcPct val="125000"/>
              </a:lnSpc>
              <a:buNone/>
            </a:pPr>
            <a:r>
              <a:rPr lang="en-US" sz="1050" dirty="0">
                <a:solidFill>
                  <a:srgbClr val="8EA3B8"/>
                </a:solidFill>
                <a:latin typeface="Calibri" pitchFamily="34" charset="0"/>
                <a:ea typeface="Calibri" pitchFamily="34" charset="-122"/>
                <a:cs typeface="Calibri" pitchFamily="34" charset="-120"/>
              </a:rPr>
              <a:t>Does accuracy hold across resting vs. post-exercise recordings, and is any gap real or an artifact?</a:t>
            </a:r>
            <a:endParaRPr lang="en-US" sz="1050" dirty="0"/>
          </a:p>
        </p:txBody>
      </p:sp>
      <p:sp>
        <p:nvSpPr>
          <p:cNvPr id="15" name="Shape 11"/>
          <p:cNvSpPr/>
          <p:nvPr/>
        </p:nvSpPr>
        <p:spPr>
          <a:xfrm>
            <a:off x="9467850" y="1828800"/>
            <a:ext cx="713232" cy="713232"/>
          </a:xfrm>
          <a:prstGeom prst="ellipse">
            <a:avLst/>
          </a:prstGeom>
          <a:solidFill>
            <a:srgbClr val="0D1E30"/>
          </a:solidFill>
          <a:ln w="19050">
            <a:solidFill>
              <a:srgbClr val="F472B6"/>
            </a:solidFill>
            <a:prstDash val="solid"/>
          </a:ln>
        </p:spPr>
      </p:sp>
      <p:pic>
        <p:nvPicPr>
          <p:cNvPr id="16" name="Image 2" descr="C:\Users\tausif\CSE 754\pptx_work\assets\Search_F472B6.png">    </p:cNvPr>
          <p:cNvPicPr>
            <a:picLocks noChangeAspect="1"/>
          </p:cNvPicPr>
          <p:nvPr/>
        </p:nvPicPr>
        <p:blipFill>
          <a:blip r:embed="rId3"/>
          <a:stretch>
            <a:fillRect/>
          </a:stretch>
        </p:blipFill>
        <p:spPr>
          <a:xfrm>
            <a:off x="9660423" y="2021373"/>
            <a:ext cx="328087" cy="328087"/>
          </a:xfrm>
          <a:prstGeom prst="rect">
            <a:avLst/>
          </a:prstGeom>
        </p:spPr>
      </p:pic>
      <p:sp>
        <p:nvSpPr>
          <p:cNvPr id="17" name="Text 12"/>
          <p:cNvSpPr txBox="1"/>
          <p:nvPr/>
        </p:nvSpPr>
        <p:spPr>
          <a:xfrm>
            <a:off x="8069885" y="2907792"/>
            <a:ext cx="3509162" cy="237744"/>
          </a:xfrm>
          <a:prstGeom prst="rect">
            <a:avLst/>
          </a:prstGeom>
          <a:noFill/>
          <a:ln/>
        </p:spPr>
        <p:txBody>
          <a:bodyPr wrap="square" lIns="0" tIns="0" rIns="0" bIns="0" rtlCol="0" anchor="ctr"/>
          <a:lstStyle/>
          <a:p>
            <a:pPr algn="ctr" indent="0" marL="0">
              <a:buNone/>
            </a:pPr>
            <a:r>
              <a:rPr lang="en-US" sz="1000" b="1" spc="100" kern="0" dirty="0">
                <a:solidFill>
                  <a:srgbClr val="F472B6"/>
                </a:solidFill>
                <a:latin typeface="Calibri" pitchFamily="34" charset="0"/>
                <a:ea typeface="Calibri" pitchFamily="34" charset="-122"/>
                <a:cs typeface="Calibri" pitchFamily="34" charset="-120"/>
              </a:rPr>
              <a:t>RQ3</a:t>
            </a:r>
            <a:endParaRPr lang="en-US" sz="1000" dirty="0"/>
          </a:p>
        </p:txBody>
      </p:sp>
      <p:sp>
        <p:nvSpPr>
          <p:cNvPr id="18" name="Text 13"/>
          <p:cNvSpPr txBox="1"/>
          <p:nvPr/>
        </p:nvSpPr>
        <p:spPr>
          <a:xfrm>
            <a:off x="8051597" y="3182112"/>
            <a:ext cx="3545738" cy="365760"/>
          </a:xfrm>
          <a:prstGeom prst="rect">
            <a:avLst/>
          </a:prstGeom>
          <a:noFill/>
          <a:ln/>
        </p:spPr>
        <p:txBody>
          <a:bodyPr wrap="square" lIns="0" tIns="0" rIns="0" bIns="0" rtlCol="0" anchor="ctr"/>
          <a:lstStyle/>
          <a:p>
            <a:pPr algn="ctr" indent="0" marL="0">
              <a:buNone/>
            </a:pPr>
            <a:r>
              <a:rPr lang="en-US" sz="1400" b="1" dirty="0">
                <a:solidFill>
                  <a:srgbClr val="EAF1F7"/>
                </a:solidFill>
                <a:latin typeface="Calibri" pitchFamily="34" charset="0"/>
                <a:ea typeface="Calibri" pitchFamily="34" charset="-122"/>
                <a:cs typeface="Calibri" pitchFamily="34" charset="-120"/>
              </a:rPr>
              <a:t>Diagnose failure honestly</a:t>
            </a:r>
            <a:endParaRPr lang="en-US" sz="1400" dirty="0"/>
          </a:p>
        </p:txBody>
      </p:sp>
      <p:sp>
        <p:nvSpPr>
          <p:cNvPr id="19" name="Text 14"/>
          <p:cNvSpPr txBox="1"/>
          <p:nvPr/>
        </p:nvSpPr>
        <p:spPr>
          <a:xfrm>
            <a:off x="8069885" y="3566160"/>
            <a:ext cx="3509162" cy="777240"/>
          </a:xfrm>
          <a:prstGeom prst="rect">
            <a:avLst/>
          </a:prstGeom>
          <a:noFill/>
          <a:ln/>
        </p:spPr>
        <p:txBody>
          <a:bodyPr wrap="square" lIns="0" tIns="0" rIns="0" bIns="0" rtlCol="0" anchor="ctr"/>
          <a:lstStyle/>
          <a:p>
            <a:pPr algn="ctr" indent="0" marL="0">
              <a:lnSpc>
                <a:spcPct val="125000"/>
              </a:lnSpc>
              <a:buNone/>
            </a:pPr>
            <a:r>
              <a:rPr lang="en-US" sz="1050" dirty="0">
                <a:solidFill>
                  <a:srgbClr val="8EA3B8"/>
                </a:solidFill>
                <a:latin typeface="Calibri" pitchFamily="34" charset="0"/>
                <a:ea typeface="Calibri" pitchFamily="34" charset="-122"/>
                <a:cs typeface="Calibri" pitchFamily="34" charset="-120"/>
              </a:rPr>
              <a:t>When a method fails, is it explainable, and does a proposed fix actually generalize?</a:t>
            </a:r>
            <a:endParaRPr lang="en-US" sz="1050" dirty="0"/>
          </a:p>
        </p:txBody>
      </p:sp>
      <p:sp>
        <p:nvSpPr>
          <p:cNvPr id="20" name="Shape 15"/>
          <p:cNvSpPr/>
          <p:nvPr/>
        </p:nvSpPr>
        <p:spPr>
          <a:xfrm>
            <a:off x="502920" y="5257800"/>
            <a:ext cx="11185855" cy="777240"/>
          </a:xfrm>
          <a:prstGeom prst="roundRect">
            <a:avLst>
              <a:gd name="adj" fmla="val 14118"/>
            </a:avLst>
          </a:prstGeom>
          <a:solidFill>
            <a:srgbClr val="0A1A2C"/>
          </a:solidFill>
          <a:ln/>
        </p:spPr>
      </p:sp>
      <p:pic>
        <p:nvPicPr>
          <p:cNvPr id="21" name="Image 3" descr="C:\Users\tausif\CSE 754\pptx_work\assets\Verified_2DD4BF.png">    </p:cNvPr>
          <p:cNvPicPr>
            <a:picLocks noChangeAspect="1"/>
          </p:cNvPicPr>
          <p:nvPr/>
        </p:nvPicPr>
        <p:blipFill>
          <a:blip r:embed="rId4"/>
          <a:stretch>
            <a:fillRect/>
          </a:stretch>
        </p:blipFill>
        <p:spPr>
          <a:xfrm>
            <a:off x="704088" y="5509260"/>
            <a:ext cx="274320" cy="274320"/>
          </a:xfrm>
          <a:prstGeom prst="rect">
            <a:avLst/>
          </a:prstGeom>
        </p:spPr>
      </p:pic>
      <p:sp>
        <p:nvSpPr>
          <p:cNvPr id="22" name="Text 16"/>
          <p:cNvSpPr txBox="1"/>
          <p:nvPr/>
        </p:nvSpPr>
        <p:spPr>
          <a:xfrm>
            <a:off x="1143000" y="5303520"/>
            <a:ext cx="10271455" cy="685800"/>
          </a:xfrm>
          <a:prstGeom prst="rect">
            <a:avLst/>
          </a:prstGeom>
          <a:noFill/>
          <a:ln/>
        </p:spPr>
        <p:txBody>
          <a:bodyPr wrap="square" lIns="0" tIns="0" rIns="0" bIns="0" rtlCol="0" anchor="ctr"/>
          <a:lstStyle/>
          <a:p>
            <a:pPr indent="0" marL="0">
              <a:lnSpc>
                <a:spcPct val="115000"/>
              </a:lnSpc>
              <a:buNone/>
            </a:pPr>
            <a:r>
              <a:rPr lang="en-US" sz="1300" dirty="0">
                <a:solidFill>
                  <a:srgbClr val="EAF1F7"/>
                </a:solidFill>
                <a:latin typeface="Calibri" pitchFamily="34" charset="0"/>
                <a:ea typeface="Calibri" pitchFamily="34" charset="-122"/>
                <a:cs typeface="Calibri" pitchFamily="34" charset="-120"/>
              </a:rPr>
              <a:t>Scope note: a skin-tone fairness axis was originally planned; the gated datasets needed weren't obtainable in time. We redirected the same rigor to the condition axis our data supports.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1420"/>
        </a:solidFill>
      </p:bgPr>
    </p:bg>
    <p:spTree>
      <p:nvGrpSpPr>
        <p:cNvPr id="1" name=""/>
        <p:cNvGrpSpPr/>
        <p:nvPr/>
      </p:nvGrpSpPr>
      <p:grpSpPr>
        <a:xfrm>
          <a:off x="0" y="0"/>
          <a:ext cx="0" cy="0"/>
          <a:chOff x="0" y="0"/>
          <a:chExt cx="0" cy="0"/>
        </a:xfrm>
      </p:grpSpPr>
      <p:sp>
        <p:nvSpPr>
          <p:cNvPr id="2" name="Text 0"/>
          <p:cNvSpPr txBox="1"/>
          <p:nvPr/>
        </p:nvSpPr>
        <p:spPr>
          <a:xfrm>
            <a:off x="502920" y="365760"/>
            <a:ext cx="11185855" cy="292608"/>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03 · METHOD</a:t>
            </a:r>
            <a:endParaRPr lang="en-US" sz="1200" dirty="0"/>
          </a:p>
        </p:txBody>
      </p:sp>
      <p:sp>
        <p:nvSpPr>
          <p:cNvPr id="3" name="Text 1"/>
          <p:cNvSpPr txBox="1"/>
          <p:nvPr/>
        </p:nvSpPr>
        <p:spPr>
          <a:xfrm>
            <a:off x="502920" y="658368"/>
            <a:ext cx="11185855" cy="822960"/>
          </a:xfrm>
          <a:prstGeom prst="rect">
            <a:avLst/>
          </a:prstGeom>
          <a:noFill/>
          <a:ln/>
        </p:spPr>
        <p:txBody>
          <a:bodyPr wrap="square" lIns="0" tIns="0" rIns="0" bIns="0" rtlCol="0" anchor="t"/>
          <a:lstStyle/>
          <a:p>
            <a:pPr indent="0" marL="0">
              <a:lnSpc>
                <a:spcPct val="105000"/>
              </a:lnSpc>
              <a:buNone/>
            </a:pPr>
            <a:r>
              <a:rPr lang="en-US" sz="2600" b="1" dirty="0">
                <a:solidFill>
                  <a:srgbClr val="EAF1F7"/>
                </a:solidFill>
                <a:latin typeface="Calibri" pitchFamily="34" charset="0"/>
                <a:ea typeface="Calibri" pitchFamily="34" charset="-122"/>
                <a:cs typeface="Calibri" pitchFamily="34" charset="-120"/>
              </a:rPr>
              <a:t>Pipeline Overview: A Six-Stage Evaluation Protocol</a:t>
            </a:r>
            <a:endParaRPr lang="en-US" sz="2600" dirty="0"/>
          </a:p>
        </p:txBody>
      </p:sp>
      <p:sp>
        <p:nvSpPr>
          <p:cNvPr id="4" name="Shape 2"/>
          <p:cNvSpPr/>
          <p:nvPr/>
        </p:nvSpPr>
        <p:spPr>
          <a:xfrm>
            <a:off x="640080" y="3200400"/>
            <a:ext cx="10911535" cy="0"/>
          </a:xfrm>
          <a:prstGeom prst="line">
            <a:avLst/>
          </a:prstGeom>
          <a:noFill/>
          <a:ln w="19050">
            <a:solidFill>
              <a:srgbClr val="2A4A63"/>
            </a:solidFill>
            <a:prstDash val="solid"/>
          </a:ln>
        </p:spPr>
      </p:sp>
      <p:sp>
        <p:nvSpPr>
          <p:cNvPr id="5" name="Shape 3"/>
          <p:cNvSpPr/>
          <p:nvPr/>
        </p:nvSpPr>
        <p:spPr>
          <a:xfrm>
            <a:off x="1435075" y="2944368"/>
            <a:ext cx="0" cy="256032"/>
          </a:xfrm>
          <a:prstGeom prst="line">
            <a:avLst/>
          </a:prstGeom>
          <a:noFill/>
          <a:ln w="19050">
            <a:solidFill>
              <a:srgbClr val="8EA3B8"/>
            </a:solidFill>
            <a:prstDash val="solid"/>
          </a:ln>
        </p:spPr>
      </p:sp>
      <p:sp>
        <p:nvSpPr>
          <p:cNvPr id="6" name="Shape 4"/>
          <p:cNvSpPr/>
          <p:nvPr/>
        </p:nvSpPr>
        <p:spPr>
          <a:xfrm>
            <a:off x="1179043" y="2432304"/>
            <a:ext cx="512064" cy="512064"/>
          </a:xfrm>
          <a:prstGeom prst="ellipse">
            <a:avLst/>
          </a:prstGeom>
          <a:solidFill>
            <a:srgbClr val="132840"/>
          </a:solidFill>
          <a:ln w="19050">
            <a:solidFill>
              <a:srgbClr val="8EA3B8"/>
            </a:solidFill>
            <a:prstDash val="solid"/>
          </a:ln>
        </p:spPr>
      </p:sp>
      <p:pic>
        <p:nvPicPr>
          <p:cNvPr id="7" name="Image 0" descr="C:\Users\tausif\CSE 754\pptx_work\assets\Settings_8EA3B8.png">    </p:cNvPr>
          <p:cNvPicPr>
            <a:picLocks noChangeAspect="1"/>
          </p:cNvPicPr>
          <p:nvPr/>
        </p:nvPicPr>
        <p:blipFill>
          <a:blip r:embed="rId1"/>
          <a:stretch>
            <a:fillRect/>
          </a:stretch>
        </p:blipFill>
        <p:spPr>
          <a:xfrm>
            <a:off x="1317300" y="2570561"/>
            <a:ext cx="235549" cy="235549"/>
          </a:xfrm>
          <a:prstGeom prst="rect">
            <a:avLst/>
          </a:prstGeom>
        </p:spPr>
      </p:pic>
      <p:sp>
        <p:nvSpPr>
          <p:cNvPr id="8" name="Text 5"/>
          <p:cNvSpPr txBox="1"/>
          <p:nvPr/>
        </p:nvSpPr>
        <p:spPr>
          <a:xfrm>
            <a:off x="576072" y="2249424"/>
            <a:ext cx="1718005" cy="146304"/>
          </a:xfrm>
          <a:prstGeom prst="rect">
            <a:avLst/>
          </a:prstGeom>
          <a:noFill/>
          <a:ln/>
        </p:spPr>
        <p:txBody>
          <a:bodyPr wrap="square" lIns="0" tIns="0" rIns="0" bIns="0" rtlCol="0" anchor="ctr"/>
          <a:lstStyle/>
          <a:p>
            <a:pPr algn="ctr" indent="0" marL="0">
              <a:buNone/>
            </a:pPr>
            <a:r>
              <a:rPr lang="en-US" sz="800" b="1" spc="50" kern="0" dirty="0">
                <a:solidFill>
                  <a:srgbClr val="8EA3B8"/>
                </a:solidFill>
                <a:latin typeface="Calibri" pitchFamily="34" charset="0"/>
                <a:ea typeface="Calibri" pitchFamily="34" charset="-122"/>
                <a:cs typeface="Calibri" pitchFamily="34" charset="-120"/>
              </a:rPr>
              <a:t>STEP 01</a:t>
            </a:r>
            <a:endParaRPr lang="en-US" sz="800" dirty="0"/>
          </a:p>
        </p:txBody>
      </p:sp>
      <p:sp>
        <p:nvSpPr>
          <p:cNvPr id="9" name="Text 6"/>
          <p:cNvSpPr txBox="1"/>
          <p:nvPr/>
        </p:nvSpPr>
        <p:spPr>
          <a:xfrm>
            <a:off x="576072" y="1993392"/>
            <a:ext cx="1718005" cy="219456"/>
          </a:xfrm>
          <a:prstGeom prst="rect">
            <a:avLst/>
          </a:prstGeom>
          <a:noFill/>
          <a:ln/>
        </p:spPr>
        <p:txBody>
          <a:bodyPr wrap="square" lIns="0" tIns="0" rIns="0" bIns="0" rtlCol="0" anchor="ctr"/>
          <a:lstStyle/>
          <a:p>
            <a:pPr algn="ctr" indent="0" marL="0">
              <a:buNone/>
            </a:pPr>
            <a:r>
              <a:rPr lang="en-US" sz="1300" b="1" dirty="0">
                <a:solidFill>
                  <a:srgbClr val="EAF1F7"/>
                </a:solidFill>
                <a:latin typeface="Calibri" pitchFamily="34" charset="0"/>
                <a:ea typeface="Calibri" pitchFamily="34" charset="-122"/>
                <a:cs typeface="Calibri" pitchFamily="34" charset="-120"/>
              </a:rPr>
              <a:t>Environment</a:t>
            </a:r>
            <a:endParaRPr lang="en-US" sz="1300" dirty="0"/>
          </a:p>
        </p:txBody>
      </p:sp>
      <p:sp>
        <p:nvSpPr>
          <p:cNvPr id="10" name="Text 7"/>
          <p:cNvSpPr txBox="1"/>
          <p:nvPr/>
        </p:nvSpPr>
        <p:spPr>
          <a:xfrm>
            <a:off x="576072" y="1700784"/>
            <a:ext cx="1718005" cy="256032"/>
          </a:xfrm>
          <a:prstGeom prst="rect">
            <a:avLst/>
          </a:prstGeom>
          <a:noFill/>
          <a:ln/>
        </p:spPr>
        <p:txBody>
          <a:bodyPr wrap="square" lIns="0" tIns="0" rIns="0" bIns="0" rtlCol="0" anchor="ctr"/>
          <a:lstStyle/>
          <a:p>
            <a:pPr algn="ctr" indent="0" marL="0">
              <a:lnSpc>
                <a:spcPct val="110000"/>
              </a:lnSpc>
              <a:buNone/>
            </a:pPr>
            <a:r>
              <a:rPr lang="en-US" sz="950" dirty="0">
                <a:solidFill>
                  <a:srgbClr val="8EA3B8"/>
                </a:solidFill>
                <a:latin typeface="Calibri" pitchFamily="34" charset="0"/>
                <a:ea typeface="Calibri" pitchFamily="34" charset="-122"/>
                <a:cs typeface="Calibri" pitchFamily="34" charset="-120"/>
              </a:rPr>
              <a:t>Versioned setup</a:t>
            </a:r>
            <a:endParaRPr lang="en-US" sz="950" dirty="0"/>
          </a:p>
        </p:txBody>
      </p:sp>
      <p:sp>
        <p:nvSpPr>
          <p:cNvPr id="11" name="Shape 8"/>
          <p:cNvSpPr/>
          <p:nvPr/>
        </p:nvSpPr>
        <p:spPr>
          <a:xfrm>
            <a:off x="3299384" y="3200400"/>
            <a:ext cx="0" cy="256032"/>
          </a:xfrm>
          <a:prstGeom prst="line">
            <a:avLst/>
          </a:prstGeom>
          <a:noFill/>
          <a:ln w="19050">
            <a:solidFill>
              <a:srgbClr val="8EA3B8"/>
            </a:solidFill>
            <a:prstDash val="solid"/>
          </a:ln>
        </p:spPr>
      </p:sp>
      <p:sp>
        <p:nvSpPr>
          <p:cNvPr id="12" name="Shape 9"/>
          <p:cNvSpPr/>
          <p:nvPr/>
        </p:nvSpPr>
        <p:spPr>
          <a:xfrm>
            <a:off x="3043352" y="3456432"/>
            <a:ext cx="512064" cy="512064"/>
          </a:xfrm>
          <a:prstGeom prst="ellipse">
            <a:avLst/>
          </a:prstGeom>
          <a:solidFill>
            <a:srgbClr val="132840"/>
          </a:solidFill>
          <a:ln w="19050">
            <a:solidFill>
              <a:srgbClr val="8EA3B8"/>
            </a:solidFill>
            <a:prstDash val="solid"/>
          </a:ln>
        </p:spPr>
      </p:sp>
      <p:pic>
        <p:nvPicPr>
          <p:cNvPr id="13" name="Image 1" descr="C:\Users\tausif\CSE 754\pptx_work\assets\Code_8EA3B8.png">    </p:cNvPr>
          <p:cNvPicPr>
            <a:picLocks noChangeAspect="1"/>
          </p:cNvPicPr>
          <p:nvPr/>
        </p:nvPicPr>
        <p:blipFill>
          <a:blip r:embed="rId2"/>
          <a:stretch>
            <a:fillRect/>
          </a:stretch>
        </p:blipFill>
        <p:spPr>
          <a:xfrm>
            <a:off x="3181609" y="3594689"/>
            <a:ext cx="235549" cy="235549"/>
          </a:xfrm>
          <a:prstGeom prst="rect">
            <a:avLst/>
          </a:prstGeom>
        </p:spPr>
      </p:pic>
      <p:sp>
        <p:nvSpPr>
          <p:cNvPr id="14" name="Text 10"/>
          <p:cNvSpPr txBox="1"/>
          <p:nvPr/>
        </p:nvSpPr>
        <p:spPr>
          <a:xfrm>
            <a:off x="2440381" y="4005072"/>
            <a:ext cx="1718005" cy="146304"/>
          </a:xfrm>
          <a:prstGeom prst="rect">
            <a:avLst/>
          </a:prstGeom>
          <a:noFill/>
          <a:ln/>
        </p:spPr>
        <p:txBody>
          <a:bodyPr wrap="square" lIns="0" tIns="0" rIns="0" bIns="0" rtlCol="0" anchor="ctr"/>
          <a:lstStyle/>
          <a:p>
            <a:pPr algn="ctr" indent="0" marL="0">
              <a:buNone/>
            </a:pPr>
            <a:r>
              <a:rPr lang="en-US" sz="800" b="1" spc="50" kern="0" dirty="0">
                <a:solidFill>
                  <a:srgbClr val="8EA3B8"/>
                </a:solidFill>
                <a:latin typeface="Calibri" pitchFamily="34" charset="0"/>
                <a:ea typeface="Calibri" pitchFamily="34" charset="-122"/>
                <a:cs typeface="Calibri" pitchFamily="34" charset="-120"/>
              </a:rPr>
              <a:t>STEP 02</a:t>
            </a:r>
            <a:endParaRPr lang="en-US" sz="800" dirty="0"/>
          </a:p>
        </p:txBody>
      </p:sp>
      <p:sp>
        <p:nvSpPr>
          <p:cNvPr id="15" name="Text 11"/>
          <p:cNvSpPr txBox="1"/>
          <p:nvPr/>
        </p:nvSpPr>
        <p:spPr>
          <a:xfrm>
            <a:off x="2440381" y="4187952"/>
            <a:ext cx="1718005" cy="219456"/>
          </a:xfrm>
          <a:prstGeom prst="rect">
            <a:avLst/>
          </a:prstGeom>
          <a:noFill/>
          <a:ln/>
        </p:spPr>
        <p:txBody>
          <a:bodyPr wrap="square" lIns="0" tIns="0" rIns="0" bIns="0" rtlCol="0" anchor="ctr"/>
          <a:lstStyle/>
          <a:p>
            <a:pPr algn="ctr" indent="0" marL="0">
              <a:buNone/>
            </a:pPr>
            <a:r>
              <a:rPr lang="en-US" sz="1300" b="1" dirty="0">
                <a:solidFill>
                  <a:srgbClr val="EAF1F7"/>
                </a:solidFill>
                <a:latin typeface="Calibri" pitchFamily="34" charset="0"/>
                <a:ea typeface="Calibri" pitchFamily="34" charset="-122"/>
                <a:cs typeface="Calibri" pitchFamily="34" charset="-120"/>
              </a:rPr>
              <a:t>Preprocess</a:t>
            </a:r>
            <a:endParaRPr lang="en-US" sz="1300" dirty="0"/>
          </a:p>
        </p:txBody>
      </p:sp>
      <p:sp>
        <p:nvSpPr>
          <p:cNvPr id="16" name="Text 12"/>
          <p:cNvSpPr txBox="1"/>
          <p:nvPr/>
        </p:nvSpPr>
        <p:spPr>
          <a:xfrm>
            <a:off x="2440381" y="4443984"/>
            <a:ext cx="1718005" cy="256032"/>
          </a:xfrm>
          <a:prstGeom prst="rect">
            <a:avLst/>
          </a:prstGeom>
          <a:noFill/>
          <a:ln/>
        </p:spPr>
        <p:txBody>
          <a:bodyPr wrap="square" lIns="0" tIns="0" rIns="0" bIns="0" rtlCol="0" anchor="ctr"/>
          <a:lstStyle/>
          <a:p>
            <a:pPr algn="ctr" indent="0" marL="0">
              <a:lnSpc>
                <a:spcPct val="110000"/>
              </a:lnSpc>
              <a:buNone/>
            </a:pPr>
            <a:r>
              <a:rPr lang="en-US" sz="950" dirty="0">
                <a:solidFill>
                  <a:srgbClr val="8EA3B8"/>
                </a:solidFill>
                <a:latin typeface="Calibri" pitchFamily="34" charset="0"/>
                <a:ea typeface="Calibri" pitchFamily="34" charset="-122"/>
                <a:cs typeface="Calibri" pitchFamily="34" charset="-120"/>
              </a:rPr>
              <a:t>Face ROI, GT align</a:t>
            </a:r>
            <a:endParaRPr lang="en-US" sz="950" dirty="0"/>
          </a:p>
        </p:txBody>
      </p:sp>
      <p:sp>
        <p:nvSpPr>
          <p:cNvPr id="17" name="Shape 13"/>
          <p:cNvSpPr/>
          <p:nvPr/>
        </p:nvSpPr>
        <p:spPr>
          <a:xfrm>
            <a:off x="5163693" y="2944368"/>
            <a:ext cx="0" cy="256032"/>
          </a:xfrm>
          <a:prstGeom prst="line">
            <a:avLst/>
          </a:prstGeom>
          <a:noFill/>
          <a:ln w="19050">
            <a:solidFill>
              <a:srgbClr val="8EA3B8"/>
            </a:solidFill>
            <a:prstDash val="solid"/>
          </a:ln>
        </p:spPr>
      </p:sp>
      <p:sp>
        <p:nvSpPr>
          <p:cNvPr id="18" name="Shape 14"/>
          <p:cNvSpPr/>
          <p:nvPr/>
        </p:nvSpPr>
        <p:spPr>
          <a:xfrm>
            <a:off x="4907661" y="2432304"/>
            <a:ext cx="512064" cy="512064"/>
          </a:xfrm>
          <a:prstGeom prst="ellipse">
            <a:avLst/>
          </a:prstGeom>
          <a:solidFill>
            <a:srgbClr val="132840"/>
          </a:solidFill>
          <a:ln w="19050">
            <a:solidFill>
              <a:srgbClr val="8EA3B8"/>
            </a:solidFill>
            <a:prstDash val="solid"/>
          </a:ln>
        </p:spPr>
      </p:sp>
      <p:pic>
        <p:nvPicPr>
          <p:cNvPr id="19" name="Image 2" descr="C:\Users\tausif\CSE 754\pptx_work\assets\Database_8EA3B8.png">    </p:cNvPr>
          <p:cNvPicPr>
            <a:picLocks noChangeAspect="1"/>
          </p:cNvPicPr>
          <p:nvPr/>
        </p:nvPicPr>
        <p:blipFill>
          <a:blip r:embed="rId3"/>
          <a:stretch>
            <a:fillRect/>
          </a:stretch>
        </p:blipFill>
        <p:spPr>
          <a:xfrm>
            <a:off x="5045918" y="2570561"/>
            <a:ext cx="235549" cy="235549"/>
          </a:xfrm>
          <a:prstGeom prst="rect">
            <a:avLst/>
          </a:prstGeom>
        </p:spPr>
      </p:pic>
      <p:sp>
        <p:nvSpPr>
          <p:cNvPr id="20" name="Text 15"/>
          <p:cNvSpPr txBox="1"/>
          <p:nvPr/>
        </p:nvSpPr>
        <p:spPr>
          <a:xfrm>
            <a:off x="4304690" y="2249424"/>
            <a:ext cx="1718005" cy="146304"/>
          </a:xfrm>
          <a:prstGeom prst="rect">
            <a:avLst/>
          </a:prstGeom>
          <a:noFill/>
          <a:ln/>
        </p:spPr>
        <p:txBody>
          <a:bodyPr wrap="square" lIns="0" tIns="0" rIns="0" bIns="0" rtlCol="0" anchor="ctr"/>
          <a:lstStyle/>
          <a:p>
            <a:pPr algn="ctr" indent="0" marL="0">
              <a:buNone/>
            </a:pPr>
            <a:r>
              <a:rPr lang="en-US" sz="800" b="1" spc="50" kern="0" dirty="0">
                <a:solidFill>
                  <a:srgbClr val="8EA3B8"/>
                </a:solidFill>
                <a:latin typeface="Calibri" pitchFamily="34" charset="0"/>
                <a:ea typeface="Calibri" pitchFamily="34" charset="-122"/>
                <a:cs typeface="Calibri" pitchFamily="34" charset="-120"/>
              </a:rPr>
              <a:t>STEP 03</a:t>
            </a:r>
            <a:endParaRPr lang="en-US" sz="800" dirty="0"/>
          </a:p>
        </p:txBody>
      </p:sp>
      <p:sp>
        <p:nvSpPr>
          <p:cNvPr id="21" name="Text 16"/>
          <p:cNvSpPr txBox="1"/>
          <p:nvPr/>
        </p:nvSpPr>
        <p:spPr>
          <a:xfrm>
            <a:off x="4304690" y="1993392"/>
            <a:ext cx="1718005" cy="219456"/>
          </a:xfrm>
          <a:prstGeom prst="rect">
            <a:avLst/>
          </a:prstGeom>
          <a:noFill/>
          <a:ln/>
        </p:spPr>
        <p:txBody>
          <a:bodyPr wrap="square" lIns="0" tIns="0" rIns="0" bIns="0" rtlCol="0" anchor="ctr"/>
          <a:lstStyle/>
          <a:p>
            <a:pPr algn="ctr" indent="0" marL="0">
              <a:buNone/>
            </a:pPr>
            <a:r>
              <a:rPr lang="en-US" sz="1300" b="1" dirty="0">
                <a:solidFill>
                  <a:srgbClr val="EAF1F7"/>
                </a:solidFill>
                <a:latin typeface="Calibri" pitchFamily="34" charset="0"/>
                <a:ea typeface="Calibri" pitchFamily="34" charset="-122"/>
                <a:cs typeface="Calibri" pitchFamily="34" charset="-120"/>
              </a:rPr>
              <a:t>Split</a:t>
            </a:r>
            <a:endParaRPr lang="en-US" sz="1300" dirty="0"/>
          </a:p>
        </p:txBody>
      </p:sp>
      <p:sp>
        <p:nvSpPr>
          <p:cNvPr id="22" name="Text 17"/>
          <p:cNvSpPr txBox="1"/>
          <p:nvPr/>
        </p:nvSpPr>
        <p:spPr>
          <a:xfrm>
            <a:off x="4304690" y="1700784"/>
            <a:ext cx="1718005" cy="256032"/>
          </a:xfrm>
          <a:prstGeom prst="rect">
            <a:avLst/>
          </a:prstGeom>
          <a:noFill/>
          <a:ln/>
        </p:spPr>
        <p:txBody>
          <a:bodyPr wrap="square" lIns="0" tIns="0" rIns="0" bIns="0" rtlCol="0" anchor="ctr"/>
          <a:lstStyle/>
          <a:p>
            <a:pPr algn="ctr" indent="0" marL="0">
              <a:lnSpc>
                <a:spcPct val="110000"/>
              </a:lnSpc>
              <a:buNone/>
            </a:pPr>
            <a:r>
              <a:rPr lang="en-US" sz="950" dirty="0">
                <a:solidFill>
                  <a:srgbClr val="8EA3B8"/>
                </a:solidFill>
                <a:latin typeface="Calibri" pitchFamily="34" charset="0"/>
                <a:ea typeface="Calibri" pitchFamily="34" charset="-122"/>
                <a:cs typeface="Calibri" pitchFamily="34" charset="-120"/>
              </a:rPr>
              <a:t>Subject-independent</a:t>
            </a:r>
            <a:endParaRPr lang="en-US" sz="950" dirty="0"/>
          </a:p>
        </p:txBody>
      </p:sp>
      <p:sp>
        <p:nvSpPr>
          <p:cNvPr id="23" name="Shape 18"/>
          <p:cNvSpPr/>
          <p:nvPr/>
        </p:nvSpPr>
        <p:spPr>
          <a:xfrm>
            <a:off x="7028002" y="3200400"/>
            <a:ext cx="0" cy="256032"/>
          </a:xfrm>
          <a:prstGeom prst="line">
            <a:avLst/>
          </a:prstGeom>
          <a:noFill/>
          <a:ln w="19050">
            <a:solidFill>
              <a:srgbClr val="38BDF8"/>
            </a:solidFill>
            <a:prstDash val="solid"/>
          </a:ln>
        </p:spPr>
      </p:sp>
      <p:sp>
        <p:nvSpPr>
          <p:cNvPr id="24" name="Shape 19"/>
          <p:cNvSpPr/>
          <p:nvPr/>
        </p:nvSpPr>
        <p:spPr>
          <a:xfrm>
            <a:off x="6771970" y="3456432"/>
            <a:ext cx="512064" cy="512064"/>
          </a:xfrm>
          <a:prstGeom prst="ellipse">
            <a:avLst/>
          </a:prstGeom>
          <a:solidFill>
            <a:srgbClr val="0D2A45"/>
          </a:solidFill>
          <a:ln w="19050">
            <a:solidFill>
              <a:srgbClr val="38BDF8"/>
            </a:solidFill>
            <a:prstDash val="solid"/>
          </a:ln>
        </p:spPr>
      </p:sp>
      <p:pic>
        <p:nvPicPr>
          <p:cNvPr id="25" name="Image 3" descr="C:\Users\tausif\CSE 754\pptx_work\assets\CheckCircle_38BDF8.png">    </p:cNvPr>
          <p:cNvPicPr>
            <a:picLocks noChangeAspect="1"/>
          </p:cNvPicPr>
          <p:nvPr/>
        </p:nvPicPr>
        <p:blipFill>
          <a:blip r:embed="rId4"/>
          <a:stretch>
            <a:fillRect/>
          </a:stretch>
        </p:blipFill>
        <p:spPr>
          <a:xfrm>
            <a:off x="6910227" y="3594689"/>
            <a:ext cx="235549" cy="235549"/>
          </a:xfrm>
          <a:prstGeom prst="rect">
            <a:avLst/>
          </a:prstGeom>
        </p:spPr>
      </p:pic>
      <p:sp>
        <p:nvSpPr>
          <p:cNvPr id="26" name="Text 20"/>
          <p:cNvSpPr txBox="1"/>
          <p:nvPr/>
        </p:nvSpPr>
        <p:spPr>
          <a:xfrm>
            <a:off x="6169000" y="4005072"/>
            <a:ext cx="1718005" cy="146304"/>
          </a:xfrm>
          <a:prstGeom prst="rect">
            <a:avLst/>
          </a:prstGeom>
          <a:noFill/>
          <a:ln/>
        </p:spPr>
        <p:txBody>
          <a:bodyPr wrap="square" lIns="0" tIns="0" rIns="0" bIns="0" rtlCol="0" anchor="ctr"/>
          <a:lstStyle/>
          <a:p>
            <a:pPr algn="ctr" indent="0" marL="0">
              <a:buNone/>
            </a:pPr>
            <a:r>
              <a:rPr lang="en-US" sz="800" b="1" spc="50" kern="0" dirty="0">
                <a:solidFill>
                  <a:srgbClr val="38BDF8"/>
                </a:solidFill>
                <a:latin typeface="Calibri" pitchFamily="34" charset="0"/>
                <a:ea typeface="Calibri" pitchFamily="34" charset="-122"/>
                <a:cs typeface="Calibri" pitchFamily="34" charset="-120"/>
              </a:rPr>
              <a:t>STEP 04</a:t>
            </a:r>
            <a:endParaRPr lang="en-US" sz="800" dirty="0"/>
          </a:p>
        </p:txBody>
      </p:sp>
      <p:sp>
        <p:nvSpPr>
          <p:cNvPr id="27" name="Text 21"/>
          <p:cNvSpPr txBox="1"/>
          <p:nvPr/>
        </p:nvSpPr>
        <p:spPr>
          <a:xfrm>
            <a:off x="6169000" y="4187952"/>
            <a:ext cx="1718005" cy="219456"/>
          </a:xfrm>
          <a:prstGeom prst="rect">
            <a:avLst/>
          </a:prstGeom>
          <a:noFill/>
          <a:ln/>
        </p:spPr>
        <p:txBody>
          <a:bodyPr wrap="square" lIns="0" tIns="0" rIns="0" bIns="0" rtlCol="0" anchor="ctr"/>
          <a:lstStyle/>
          <a:p>
            <a:pPr algn="ctr" indent="0" marL="0">
              <a:buNone/>
            </a:pPr>
            <a:r>
              <a:rPr lang="en-US" sz="1300" b="1" dirty="0">
                <a:solidFill>
                  <a:srgbClr val="EAF1F7"/>
                </a:solidFill>
                <a:latin typeface="Calibri" pitchFamily="34" charset="0"/>
                <a:ea typeface="Calibri" pitchFamily="34" charset="-122"/>
                <a:cs typeface="Calibri" pitchFamily="34" charset="-120"/>
              </a:rPr>
              <a:t>Reproduce</a:t>
            </a:r>
            <a:endParaRPr lang="en-US" sz="1300" dirty="0"/>
          </a:p>
        </p:txBody>
      </p:sp>
      <p:sp>
        <p:nvSpPr>
          <p:cNvPr id="28" name="Text 22"/>
          <p:cNvSpPr txBox="1"/>
          <p:nvPr/>
        </p:nvSpPr>
        <p:spPr>
          <a:xfrm>
            <a:off x="6169000" y="4443984"/>
            <a:ext cx="1718005" cy="256032"/>
          </a:xfrm>
          <a:prstGeom prst="rect">
            <a:avLst/>
          </a:prstGeom>
          <a:noFill/>
          <a:ln/>
        </p:spPr>
        <p:txBody>
          <a:bodyPr wrap="square" lIns="0" tIns="0" rIns="0" bIns="0" rtlCol="0" anchor="ctr"/>
          <a:lstStyle/>
          <a:p>
            <a:pPr algn="ctr" indent="0" marL="0">
              <a:lnSpc>
                <a:spcPct val="110000"/>
              </a:lnSpc>
              <a:buNone/>
            </a:pPr>
            <a:r>
              <a:rPr lang="en-US" sz="950" dirty="0">
                <a:solidFill>
                  <a:srgbClr val="EAF1F7"/>
                </a:solidFill>
                <a:latin typeface="Calibri" pitchFamily="34" charset="0"/>
                <a:ea typeface="Calibri" pitchFamily="34" charset="-122"/>
                <a:cs typeface="Calibri" pitchFamily="34" charset="-120"/>
              </a:rPr>
              <a:t>vs. published numbers</a:t>
            </a:r>
            <a:endParaRPr lang="en-US" sz="950" dirty="0"/>
          </a:p>
        </p:txBody>
      </p:sp>
      <p:sp>
        <p:nvSpPr>
          <p:cNvPr id="29" name="Shape 23"/>
          <p:cNvSpPr/>
          <p:nvPr/>
        </p:nvSpPr>
        <p:spPr>
          <a:xfrm>
            <a:off x="8892311" y="2944368"/>
            <a:ext cx="0" cy="256032"/>
          </a:xfrm>
          <a:prstGeom prst="line">
            <a:avLst/>
          </a:prstGeom>
          <a:noFill/>
          <a:ln w="19050">
            <a:solidFill>
              <a:srgbClr val="38BDF8"/>
            </a:solidFill>
            <a:prstDash val="solid"/>
          </a:ln>
        </p:spPr>
      </p:sp>
      <p:sp>
        <p:nvSpPr>
          <p:cNvPr id="30" name="Shape 24"/>
          <p:cNvSpPr/>
          <p:nvPr/>
        </p:nvSpPr>
        <p:spPr>
          <a:xfrm>
            <a:off x="8636279" y="2432304"/>
            <a:ext cx="512064" cy="512064"/>
          </a:xfrm>
          <a:prstGeom prst="ellipse">
            <a:avLst/>
          </a:prstGeom>
          <a:solidFill>
            <a:srgbClr val="0D2A45"/>
          </a:solidFill>
          <a:ln w="19050">
            <a:solidFill>
              <a:srgbClr val="38BDF8"/>
            </a:solidFill>
            <a:prstDash val="solid"/>
          </a:ln>
        </p:spPr>
      </p:sp>
      <p:pic>
        <p:nvPicPr>
          <p:cNvPr id="31" name="Image 4" descr="C:\Users\tausif\CSE 754\pptx_work\assets\Activity_38BDF8.png">    </p:cNvPr>
          <p:cNvPicPr>
            <a:picLocks noChangeAspect="1"/>
          </p:cNvPicPr>
          <p:nvPr/>
        </p:nvPicPr>
        <p:blipFill>
          <a:blip r:embed="rId5"/>
          <a:stretch>
            <a:fillRect/>
          </a:stretch>
        </p:blipFill>
        <p:spPr>
          <a:xfrm>
            <a:off x="8774537" y="2570561"/>
            <a:ext cx="235549" cy="235549"/>
          </a:xfrm>
          <a:prstGeom prst="rect">
            <a:avLst/>
          </a:prstGeom>
        </p:spPr>
      </p:pic>
      <p:sp>
        <p:nvSpPr>
          <p:cNvPr id="32" name="Text 25"/>
          <p:cNvSpPr txBox="1"/>
          <p:nvPr/>
        </p:nvSpPr>
        <p:spPr>
          <a:xfrm>
            <a:off x="8033309" y="2249424"/>
            <a:ext cx="1718005" cy="146304"/>
          </a:xfrm>
          <a:prstGeom prst="rect">
            <a:avLst/>
          </a:prstGeom>
          <a:noFill/>
          <a:ln/>
        </p:spPr>
        <p:txBody>
          <a:bodyPr wrap="square" lIns="0" tIns="0" rIns="0" bIns="0" rtlCol="0" anchor="ctr"/>
          <a:lstStyle/>
          <a:p>
            <a:pPr algn="ctr" indent="0" marL="0">
              <a:buNone/>
            </a:pPr>
            <a:r>
              <a:rPr lang="en-US" sz="800" b="1" spc="50" kern="0" dirty="0">
                <a:solidFill>
                  <a:srgbClr val="38BDF8"/>
                </a:solidFill>
                <a:latin typeface="Calibri" pitchFamily="34" charset="0"/>
                <a:ea typeface="Calibri" pitchFamily="34" charset="-122"/>
                <a:cs typeface="Calibri" pitchFamily="34" charset="-120"/>
              </a:rPr>
              <a:t>STEP 05</a:t>
            </a:r>
            <a:endParaRPr lang="en-US" sz="800" dirty="0"/>
          </a:p>
        </p:txBody>
      </p:sp>
      <p:sp>
        <p:nvSpPr>
          <p:cNvPr id="33" name="Text 26"/>
          <p:cNvSpPr txBox="1"/>
          <p:nvPr/>
        </p:nvSpPr>
        <p:spPr>
          <a:xfrm>
            <a:off x="8033309" y="1993392"/>
            <a:ext cx="1718005" cy="219456"/>
          </a:xfrm>
          <a:prstGeom prst="rect">
            <a:avLst/>
          </a:prstGeom>
          <a:noFill/>
          <a:ln/>
        </p:spPr>
        <p:txBody>
          <a:bodyPr wrap="square" lIns="0" tIns="0" rIns="0" bIns="0" rtlCol="0" anchor="ctr"/>
          <a:lstStyle/>
          <a:p>
            <a:pPr algn="ctr" indent="0" marL="0">
              <a:buNone/>
            </a:pPr>
            <a:r>
              <a:rPr lang="en-US" sz="1300" b="1" dirty="0">
                <a:solidFill>
                  <a:srgbClr val="EAF1F7"/>
                </a:solidFill>
                <a:latin typeface="Calibri" pitchFamily="34" charset="0"/>
                <a:ea typeface="Calibri" pitchFamily="34" charset="-122"/>
                <a:cs typeface="Calibri" pitchFamily="34" charset="-120"/>
              </a:rPr>
              <a:t>Core eval</a:t>
            </a:r>
            <a:endParaRPr lang="en-US" sz="1300" dirty="0"/>
          </a:p>
        </p:txBody>
      </p:sp>
      <p:sp>
        <p:nvSpPr>
          <p:cNvPr id="34" name="Text 27"/>
          <p:cNvSpPr txBox="1"/>
          <p:nvPr/>
        </p:nvSpPr>
        <p:spPr>
          <a:xfrm>
            <a:off x="8033309" y="1700784"/>
            <a:ext cx="1718005" cy="256032"/>
          </a:xfrm>
          <a:prstGeom prst="rect">
            <a:avLst/>
          </a:prstGeom>
          <a:noFill/>
          <a:ln/>
        </p:spPr>
        <p:txBody>
          <a:bodyPr wrap="square" lIns="0" tIns="0" rIns="0" bIns="0" rtlCol="0" anchor="ctr"/>
          <a:lstStyle/>
          <a:p>
            <a:pPr algn="ctr" indent="0" marL="0">
              <a:lnSpc>
                <a:spcPct val="110000"/>
              </a:lnSpc>
              <a:buNone/>
            </a:pPr>
            <a:r>
              <a:rPr lang="en-US" sz="950" dirty="0">
                <a:solidFill>
                  <a:srgbClr val="EAF1F7"/>
                </a:solidFill>
                <a:latin typeface="Calibri" pitchFamily="34" charset="0"/>
                <a:ea typeface="Calibri" pitchFamily="34" charset="-122"/>
                <a:cs typeface="Calibri" pitchFamily="34" charset="-120"/>
              </a:rPr>
              <a:t>Resting vs. exercise</a:t>
            </a:r>
            <a:endParaRPr lang="en-US" sz="950" dirty="0"/>
          </a:p>
        </p:txBody>
      </p:sp>
      <p:sp>
        <p:nvSpPr>
          <p:cNvPr id="35" name="Shape 28"/>
          <p:cNvSpPr/>
          <p:nvPr/>
        </p:nvSpPr>
        <p:spPr>
          <a:xfrm>
            <a:off x="10756621" y="3200400"/>
            <a:ext cx="0" cy="256032"/>
          </a:xfrm>
          <a:prstGeom prst="line">
            <a:avLst/>
          </a:prstGeom>
          <a:noFill/>
          <a:ln w="19050">
            <a:solidFill>
              <a:srgbClr val="38BDF8"/>
            </a:solidFill>
            <a:prstDash val="solid"/>
          </a:ln>
        </p:spPr>
      </p:sp>
      <p:sp>
        <p:nvSpPr>
          <p:cNvPr id="36" name="Shape 29"/>
          <p:cNvSpPr/>
          <p:nvPr/>
        </p:nvSpPr>
        <p:spPr>
          <a:xfrm>
            <a:off x="10500589" y="3456432"/>
            <a:ext cx="512064" cy="512064"/>
          </a:xfrm>
          <a:prstGeom prst="ellipse">
            <a:avLst/>
          </a:prstGeom>
          <a:solidFill>
            <a:srgbClr val="0D2A45"/>
          </a:solidFill>
          <a:ln w="19050">
            <a:solidFill>
              <a:srgbClr val="38BDF8"/>
            </a:solidFill>
            <a:prstDash val="solid"/>
          </a:ln>
        </p:spPr>
      </p:sp>
      <p:pic>
        <p:nvPicPr>
          <p:cNvPr id="37" name="Image 5" descr="C:\Users\tausif\CSE 754\pptx_work\assets\Search_38BDF8.png">    </p:cNvPr>
          <p:cNvPicPr>
            <a:picLocks noChangeAspect="1"/>
          </p:cNvPicPr>
          <p:nvPr/>
        </p:nvPicPr>
        <p:blipFill>
          <a:blip r:embed="rId6"/>
          <a:stretch>
            <a:fillRect/>
          </a:stretch>
        </p:blipFill>
        <p:spPr>
          <a:xfrm>
            <a:off x="10638846" y="3594689"/>
            <a:ext cx="235549" cy="235549"/>
          </a:xfrm>
          <a:prstGeom prst="rect">
            <a:avLst/>
          </a:prstGeom>
        </p:spPr>
      </p:pic>
      <p:sp>
        <p:nvSpPr>
          <p:cNvPr id="38" name="Text 30"/>
          <p:cNvSpPr txBox="1"/>
          <p:nvPr/>
        </p:nvSpPr>
        <p:spPr>
          <a:xfrm>
            <a:off x="9897618" y="4005072"/>
            <a:ext cx="1718005" cy="146304"/>
          </a:xfrm>
          <a:prstGeom prst="rect">
            <a:avLst/>
          </a:prstGeom>
          <a:noFill/>
          <a:ln/>
        </p:spPr>
        <p:txBody>
          <a:bodyPr wrap="square" lIns="0" tIns="0" rIns="0" bIns="0" rtlCol="0" anchor="ctr"/>
          <a:lstStyle/>
          <a:p>
            <a:pPr algn="ctr" indent="0" marL="0">
              <a:buNone/>
            </a:pPr>
            <a:r>
              <a:rPr lang="en-US" sz="800" b="1" spc="50" kern="0" dirty="0">
                <a:solidFill>
                  <a:srgbClr val="38BDF8"/>
                </a:solidFill>
                <a:latin typeface="Calibri" pitchFamily="34" charset="0"/>
                <a:ea typeface="Calibri" pitchFamily="34" charset="-122"/>
                <a:cs typeface="Calibri" pitchFamily="34" charset="-120"/>
              </a:rPr>
              <a:t>STEP 06</a:t>
            </a:r>
            <a:endParaRPr lang="en-US" sz="800" dirty="0"/>
          </a:p>
        </p:txBody>
      </p:sp>
      <p:sp>
        <p:nvSpPr>
          <p:cNvPr id="39" name="Text 31"/>
          <p:cNvSpPr txBox="1"/>
          <p:nvPr/>
        </p:nvSpPr>
        <p:spPr>
          <a:xfrm>
            <a:off x="9897618" y="4187952"/>
            <a:ext cx="1718005" cy="219456"/>
          </a:xfrm>
          <a:prstGeom prst="rect">
            <a:avLst/>
          </a:prstGeom>
          <a:noFill/>
          <a:ln/>
        </p:spPr>
        <p:txBody>
          <a:bodyPr wrap="square" lIns="0" tIns="0" rIns="0" bIns="0" rtlCol="0" anchor="ctr"/>
          <a:lstStyle/>
          <a:p>
            <a:pPr algn="ctr" indent="0" marL="0">
              <a:buNone/>
            </a:pPr>
            <a:r>
              <a:rPr lang="en-US" sz="1300" b="1" dirty="0">
                <a:solidFill>
                  <a:srgbClr val="EAF1F7"/>
                </a:solidFill>
                <a:latin typeface="Calibri" pitchFamily="34" charset="0"/>
                <a:ea typeface="Calibri" pitchFamily="34" charset="-122"/>
                <a:cs typeface="Calibri" pitchFamily="34" charset="-120"/>
              </a:rPr>
              <a:t>Diagnose</a:t>
            </a:r>
            <a:endParaRPr lang="en-US" sz="1300" dirty="0"/>
          </a:p>
        </p:txBody>
      </p:sp>
      <p:sp>
        <p:nvSpPr>
          <p:cNvPr id="40" name="Text 32"/>
          <p:cNvSpPr txBox="1"/>
          <p:nvPr/>
        </p:nvSpPr>
        <p:spPr>
          <a:xfrm>
            <a:off x="9897618" y="4443984"/>
            <a:ext cx="1718005" cy="256032"/>
          </a:xfrm>
          <a:prstGeom prst="rect">
            <a:avLst/>
          </a:prstGeom>
          <a:noFill/>
          <a:ln/>
        </p:spPr>
        <p:txBody>
          <a:bodyPr wrap="square" lIns="0" tIns="0" rIns="0" bIns="0" rtlCol="0" anchor="ctr"/>
          <a:lstStyle/>
          <a:p>
            <a:pPr algn="ctr" indent="0" marL="0">
              <a:lnSpc>
                <a:spcPct val="110000"/>
              </a:lnSpc>
              <a:buNone/>
            </a:pPr>
            <a:r>
              <a:rPr lang="en-US" sz="950" dirty="0">
                <a:solidFill>
                  <a:srgbClr val="EAF1F7"/>
                </a:solidFill>
                <a:latin typeface="Calibri" pitchFamily="34" charset="0"/>
                <a:ea typeface="Calibri" pitchFamily="34" charset="-122"/>
                <a:cs typeface="Calibri" pitchFamily="34" charset="-120"/>
              </a:rPr>
              <a:t>Failure + mitigation</a:t>
            </a:r>
            <a:endParaRPr lang="en-US" sz="950" dirty="0"/>
          </a:p>
        </p:txBody>
      </p:sp>
      <p:sp>
        <p:nvSpPr>
          <p:cNvPr id="41" name="Shape 33"/>
          <p:cNvSpPr/>
          <p:nvPr/>
        </p:nvSpPr>
        <p:spPr>
          <a:xfrm>
            <a:off x="502920" y="5074920"/>
            <a:ext cx="11185855" cy="658368"/>
          </a:xfrm>
          <a:prstGeom prst="roundRect">
            <a:avLst>
              <a:gd name="adj" fmla="val 16667"/>
            </a:avLst>
          </a:prstGeom>
          <a:solidFill>
            <a:srgbClr val="0A1A2C"/>
          </a:solidFill>
          <a:ln/>
        </p:spPr>
      </p:sp>
      <p:pic>
        <p:nvPicPr>
          <p:cNvPr id="42" name="Image 6" descr="C:\Users\tausif\CSE 754\pptx_work\assets\Lock_2DD4BF.png">    </p:cNvPr>
          <p:cNvPicPr>
            <a:picLocks noChangeAspect="1"/>
          </p:cNvPicPr>
          <p:nvPr/>
        </p:nvPicPr>
        <p:blipFill>
          <a:blip r:embed="rId7"/>
          <a:stretch>
            <a:fillRect/>
          </a:stretch>
        </p:blipFill>
        <p:spPr>
          <a:xfrm>
            <a:off x="704088" y="5266944"/>
            <a:ext cx="274320" cy="274320"/>
          </a:xfrm>
          <a:prstGeom prst="rect">
            <a:avLst/>
          </a:prstGeom>
        </p:spPr>
      </p:pic>
      <p:sp>
        <p:nvSpPr>
          <p:cNvPr id="43" name="Text 34"/>
          <p:cNvSpPr txBox="1"/>
          <p:nvPr/>
        </p:nvSpPr>
        <p:spPr>
          <a:xfrm>
            <a:off x="1143000" y="5120640"/>
            <a:ext cx="10271455" cy="566928"/>
          </a:xfrm>
          <a:prstGeom prst="rect">
            <a:avLst/>
          </a:prstGeom>
          <a:noFill/>
          <a:ln/>
        </p:spPr>
        <p:txBody>
          <a:bodyPr wrap="square" lIns="0" tIns="0" rIns="0" bIns="0" rtlCol="0" anchor="ctr"/>
          <a:lstStyle/>
          <a:p>
            <a:pPr indent="0" marL="0">
              <a:lnSpc>
                <a:spcPct val="115000"/>
              </a:lnSpc>
              <a:buNone/>
            </a:pPr>
            <a:r>
              <a:rPr lang="en-US" sz="1400" dirty="0">
                <a:solidFill>
                  <a:srgbClr val="EAF1F7"/>
                </a:solidFill>
                <a:latin typeface="Calibri" pitchFamily="34" charset="0"/>
                <a:ea typeface="Calibri" pitchFamily="34" charset="-122"/>
                <a:cs typeface="Calibri" pitchFamily="34" charset="-120"/>
              </a:rPr>
              <a:t>Step 4 is a hard gate: we do not move to steps 5 and 6 until baseline reproduction actually passes.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1420"/>
        </a:solidFill>
      </p:bgPr>
    </p:bg>
    <p:spTree>
      <p:nvGrpSpPr>
        <p:cNvPr id="1" name=""/>
        <p:cNvGrpSpPr/>
        <p:nvPr/>
      </p:nvGrpSpPr>
      <p:grpSpPr>
        <a:xfrm>
          <a:off x="0" y="0"/>
          <a:ext cx="0" cy="0"/>
          <a:chOff x="0" y="0"/>
          <a:chExt cx="0" cy="0"/>
        </a:xfrm>
      </p:grpSpPr>
      <p:sp>
        <p:nvSpPr>
          <p:cNvPr id="2" name="Text 0"/>
          <p:cNvSpPr txBox="1"/>
          <p:nvPr/>
        </p:nvSpPr>
        <p:spPr>
          <a:xfrm>
            <a:off x="502920" y="365760"/>
            <a:ext cx="11185855" cy="292608"/>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03 · METHOD</a:t>
            </a:r>
            <a:endParaRPr lang="en-US" sz="1200" dirty="0"/>
          </a:p>
        </p:txBody>
      </p:sp>
      <p:sp>
        <p:nvSpPr>
          <p:cNvPr id="3" name="Text 1"/>
          <p:cNvSpPr txBox="1"/>
          <p:nvPr/>
        </p:nvSpPr>
        <p:spPr>
          <a:xfrm>
            <a:off x="502920" y="658368"/>
            <a:ext cx="11185855" cy="822960"/>
          </a:xfrm>
          <a:prstGeom prst="rect">
            <a:avLst/>
          </a:prstGeom>
          <a:noFill/>
          <a:ln/>
        </p:spPr>
        <p:txBody>
          <a:bodyPr wrap="square" lIns="0" tIns="0" rIns="0" bIns="0" rtlCol="0" anchor="t"/>
          <a:lstStyle/>
          <a:p>
            <a:pPr indent="0" marL="0">
              <a:lnSpc>
                <a:spcPct val="105000"/>
              </a:lnSpc>
              <a:buNone/>
            </a:pPr>
            <a:r>
              <a:rPr lang="en-US" sz="2800" b="1" dirty="0">
                <a:solidFill>
                  <a:srgbClr val="EAF1F7"/>
                </a:solidFill>
                <a:latin typeface="Calibri" pitchFamily="34" charset="0"/>
                <a:ea typeface="Calibri" pitchFamily="34" charset="-122"/>
                <a:cs typeface="Calibri" pitchFamily="34" charset="-120"/>
              </a:rPr>
              <a:t>Data and Baselines</a:t>
            </a:r>
            <a:endParaRPr lang="en-US" sz="2800" dirty="0"/>
          </a:p>
        </p:txBody>
      </p:sp>
      <p:sp>
        <p:nvSpPr>
          <p:cNvPr id="4" name="Shape 2"/>
          <p:cNvSpPr/>
          <p:nvPr/>
        </p:nvSpPr>
        <p:spPr>
          <a:xfrm>
            <a:off x="502920" y="1965960"/>
            <a:ext cx="4206240" cy="3108960"/>
          </a:xfrm>
          <a:prstGeom prst="roundRect">
            <a:avLst>
              <a:gd name="adj" fmla="val 4706"/>
            </a:avLst>
          </a:prstGeom>
          <a:solidFill>
            <a:srgbClr val="0D1E30"/>
          </a:solidFill>
          <a:ln/>
        </p:spPr>
      </p:sp>
      <p:sp>
        <p:nvSpPr>
          <p:cNvPr id="5" name="Text 3"/>
          <p:cNvSpPr txBox="1"/>
          <p:nvPr/>
        </p:nvSpPr>
        <p:spPr>
          <a:xfrm>
            <a:off x="822960" y="2331720"/>
            <a:ext cx="3566160" cy="1097280"/>
          </a:xfrm>
          <a:prstGeom prst="rect">
            <a:avLst/>
          </a:prstGeom>
          <a:noFill/>
          <a:ln/>
        </p:spPr>
        <p:txBody>
          <a:bodyPr wrap="square" lIns="0" tIns="0" rIns="0" bIns="0" rtlCol="0" anchor="ctr"/>
          <a:lstStyle/>
          <a:p>
            <a:pPr indent="0" marL="0">
              <a:buNone/>
            </a:pPr>
            <a:r>
              <a:rPr lang="en-US" sz="6400" b="1" dirty="0">
                <a:solidFill>
                  <a:srgbClr val="38BDF8"/>
                </a:solidFill>
                <a:latin typeface="Calibri" pitchFamily="34" charset="0"/>
                <a:ea typeface="Calibri" pitchFamily="34" charset="-122"/>
                <a:cs typeface="Calibri" pitchFamily="34" charset="-120"/>
              </a:rPr>
              <a:t>22</a:t>
            </a:r>
            <a:endParaRPr lang="en-US" sz="6400" dirty="0"/>
          </a:p>
        </p:txBody>
      </p:sp>
      <p:sp>
        <p:nvSpPr>
          <p:cNvPr id="6" name="Text 4"/>
          <p:cNvSpPr txBox="1"/>
          <p:nvPr/>
        </p:nvSpPr>
        <p:spPr>
          <a:xfrm>
            <a:off x="822960" y="3520440"/>
            <a:ext cx="3566160" cy="1280160"/>
          </a:xfrm>
          <a:prstGeom prst="rect">
            <a:avLst/>
          </a:prstGeom>
          <a:noFill/>
          <a:ln/>
        </p:spPr>
        <p:txBody>
          <a:bodyPr wrap="square" lIns="0" tIns="0" rIns="0" bIns="0" rtlCol="0" anchor="ctr"/>
          <a:lstStyle/>
          <a:p>
            <a:pPr indent="0" marL="0">
              <a:lnSpc>
                <a:spcPct val="135000"/>
              </a:lnSpc>
              <a:buNone/>
            </a:pPr>
            <a:r>
              <a:rPr lang="en-US" sz="1400" dirty="0">
                <a:solidFill>
                  <a:srgbClr val="8EA3B8"/>
                </a:solidFill>
                <a:latin typeface="Calibri" pitchFamily="34" charset="0"/>
                <a:ea typeface="Calibri" pitchFamily="34" charset="-122"/>
                <a:cs typeface="Calibri" pitchFamily="34" charset="-120"/>
              </a:rPr>
              <a:t>pooled UBFC-rPPG clips, both public releases · subject-independent 15/3/4 split</a:t>
            </a:r>
            <a:endParaRPr lang="en-US" sz="1400" dirty="0"/>
          </a:p>
        </p:txBody>
      </p:sp>
      <p:sp>
        <p:nvSpPr>
          <p:cNvPr id="7" name="Shape 5"/>
          <p:cNvSpPr/>
          <p:nvPr/>
        </p:nvSpPr>
        <p:spPr>
          <a:xfrm>
            <a:off x="4983480" y="1965960"/>
            <a:ext cx="6705295" cy="914400"/>
          </a:xfrm>
          <a:prstGeom prst="roundRect">
            <a:avLst>
              <a:gd name="adj" fmla="val 12000"/>
            </a:avLst>
          </a:prstGeom>
          <a:solidFill>
            <a:srgbClr val="0D1E30"/>
          </a:solidFill>
          <a:ln/>
        </p:spPr>
      </p:sp>
      <p:pic>
        <p:nvPicPr>
          <p:cNvPr id="8" name="Image 0" descr="C:\Users\tausif\CSE 754\pptx_work\assets\Code_38BDF8.png">    </p:cNvPr>
          <p:cNvPicPr>
            <a:picLocks noChangeAspect="1"/>
          </p:cNvPicPr>
          <p:nvPr/>
        </p:nvPicPr>
        <p:blipFill>
          <a:blip r:embed="rId1"/>
          <a:stretch>
            <a:fillRect/>
          </a:stretch>
        </p:blipFill>
        <p:spPr>
          <a:xfrm>
            <a:off x="5257800" y="2276856"/>
            <a:ext cx="292608" cy="292608"/>
          </a:xfrm>
          <a:prstGeom prst="rect">
            <a:avLst/>
          </a:prstGeom>
        </p:spPr>
      </p:pic>
      <p:sp>
        <p:nvSpPr>
          <p:cNvPr id="9" name="Text 6"/>
          <p:cNvSpPr txBox="1"/>
          <p:nvPr/>
        </p:nvSpPr>
        <p:spPr>
          <a:xfrm>
            <a:off x="5715000" y="1965960"/>
            <a:ext cx="5882335" cy="914400"/>
          </a:xfrm>
          <a:prstGeom prst="rect">
            <a:avLst/>
          </a:prstGeom>
          <a:noFill/>
          <a:ln/>
        </p:spPr>
        <p:txBody>
          <a:bodyPr wrap="square" lIns="0" tIns="0" rIns="0" bIns="0" rtlCol="0" anchor="ctr"/>
          <a:lstStyle/>
          <a:p>
            <a:pPr indent="0" marL="0">
              <a:lnSpc>
                <a:spcPct val="120000"/>
              </a:lnSpc>
              <a:buNone/>
            </a:pPr>
            <a:r>
              <a:rPr lang="en-US" sz="1400" b="1" dirty="0">
                <a:solidFill>
                  <a:srgbClr val="EAF1F7"/>
                </a:solidFill>
                <a:latin typeface="Calibri" pitchFamily="34" charset="0"/>
                <a:ea typeface="Calibri" pitchFamily="34" charset="-122"/>
                <a:cs typeface="Calibri" pitchFamily="34" charset="-120"/>
              </a:rPr>
              <a:t>CHROM &amp; POS </a:t>
            </a:r>
            <a:pPr indent="0" marL="0">
              <a:lnSpc>
                <a:spcPct val="120000"/>
              </a:lnSpc>
              <a:buNone/>
            </a:pPr>
            <a:r>
              <a:rPr lang="en-US" sz="1400" dirty="0">
                <a:solidFill>
                  <a:srgbClr val="EAF1F7"/>
                </a:solidFill>
                <a:latin typeface="Calibri" pitchFamily="34" charset="0"/>
                <a:ea typeface="Calibri" pitchFamily="34" charset="-122"/>
                <a:cs typeface="Calibri" pitchFamily="34" charset="-120"/>
              </a:rPr>
              <a:t>classical, training-free chrominance methods</a:t>
            </a:r>
            <a:endParaRPr lang="en-US" sz="1400" dirty="0"/>
          </a:p>
        </p:txBody>
      </p:sp>
      <p:sp>
        <p:nvSpPr>
          <p:cNvPr id="10" name="Shape 7"/>
          <p:cNvSpPr/>
          <p:nvPr/>
        </p:nvSpPr>
        <p:spPr>
          <a:xfrm>
            <a:off x="4983480" y="3017520"/>
            <a:ext cx="6705295" cy="914400"/>
          </a:xfrm>
          <a:prstGeom prst="roundRect">
            <a:avLst>
              <a:gd name="adj" fmla="val 12000"/>
            </a:avLst>
          </a:prstGeom>
          <a:solidFill>
            <a:srgbClr val="0D1E30"/>
          </a:solidFill>
          <a:ln/>
        </p:spPr>
      </p:sp>
      <p:pic>
        <p:nvPicPr>
          <p:cNvPr id="11" name="Image 1" descr="C:\Users\tausif\CSE 754\pptx_work\assets\Database_38BDF8.png">    </p:cNvPr>
          <p:cNvPicPr>
            <a:picLocks noChangeAspect="1"/>
          </p:cNvPicPr>
          <p:nvPr/>
        </p:nvPicPr>
        <p:blipFill>
          <a:blip r:embed="rId2"/>
          <a:stretch>
            <a:fillRect/>
          </a:stretch>
        </p:blipFill>
        <p:spPr>
          <a:xfrm>
            <a:off x="5257800" y="3328416"/>
            <a:ext cx="292608" cy="292608"/>
          </a:xfrm>
          <a:prstGeom prst="rect">
            <a:avLst/>
          </a:prstGeom>
        </p:spPr>
      </p:pic>
      <p:sp>
        <p:nvSpPr>
          <p:cNvPr id="12" name="Text 8"/>
          <p:cNvSpPr txBox="1"/>
          <p:nvPr/>
        </p:nvSpPr>
        <p:spPr>
          <a:xfrm>
            <a:off x="5715000" y="3017520"/>
            <a:ext cx="5882335" cy="914400"/>
          </a:xfrm>
          <a:prstGeom prst="rect">
            <a:avLst/>
          </a:prstGeom>
          <a:noFill/>
          <a:ln/>
        </p:spPr>
        <p:txBody>
          <a:bodyPr wrap="square" lIns="0" tIns="0" rIns="0" bIns="0" rtlCol="0" anchor="ctr"/>
          <a:lstStyle/>
          <a:p>
            <a:pPr indent="0" marL="0">
              <a:lnSpc>
                <a:spcPct val="120000"/>
              </a:lnSpc>
              <a:buNone/>
            </a:pPr>
            <a:r>
              <a:rPr lang="en-US" sz="1400" b="1" dirty="0">
                <a:solidFill>
                  <a:srgbClr val="EAF1F7"/>
                </a:solidFill>
                <a:latin typeface="Calibri" pitchFamily="34" charset="0"/>
                <a:ea typeface="Calibri" pitchFamily="34" charset="-122"/>
                <a:cs typeface="Calibri" pitchFamily="34" charset="-120"/>
              </a:rPr>
              <a:t>PhysNet ×2 </a:t>
            </a:r>
            <a:pPr indent="0" marL="0">
              <a:lnSpc>
                <a:spcPct val="120000"/>
              </a:lnSpc>
              <a:buNone/>
            </a:pPr>
            <a:r>
              <a:rPr lang="en-US" sz="1400" dirty="0">
                <a:solidFill>
                  <a:srgbClr val="EAF1F7"/>
                </a:solidFill>
                <a:latin typeface="Calibri" pitchFamily="34" charset="0"/>
                <a:ea typeface="Calibri" pitchFamily="34" charset="-122"/>
                <a:cs typeface="Calibri" pitchFamily="34" charset="-120"/>
              </a:rPr>
              <a:t>deep spatiotemporal network, two pretrained checkpoints, inference-only</a:t>
            </a:r>
            <a:endParaRPr lang="en-US" sz="1400" dirty="0"/>
          </a:p>
        </p:txBody>
      </p:sp>
      <p:sp>
        <p:nvSpPr>
          <p:cNvPr id="13" name="Shape 9"/>
          <p:cNvSpPr/>
          <p:nvPr/>
        </p:nvSpPr>
        <p:spPr>
          <a:xfrm>
            <a:off x="4983480" y="4069080"/>
            <a:ext cx="6705295" cy="914400"/>
          </a:xfrm>
          <a:prstGeom prst="roundRect">
            <a:avLst>
              <a:gd name="adj" fmla="val 12000"/>
            </a:avLst>
          </a:prstGeom>
          <a:solidFill>
            <a:srgbClr val="0D1E30"/>
          </a:solidFill>
          <a:ln/>
        </p:spPr>
      </p:sp>
      <p:pic>
        <p:nvPicPr>
          <p:cNvPr id="14" name="Image 2" descr="C:\Users\tausif\CSE 754\pptx_work\assets\Chart_38BDF8.png">    </p:cNvPr>
          <p:cNvPicPr>
            <a:picLocks noChangeAspect="1"/>
          </p:cNvPicPr>
          <p:nvPr/>
        </p:nvPicPr>
        <p:blipFill>
          <a:blip r:embed="rId3"/>
          <a:stretch>
            <a:fillRect/>
          </a:stretch>
        </p:blipFill>
        <p:spPr>
          <a:xfrm>
            <a:off x="5257800" y="4379976"/>
            <a:ext cx="292608" cy="292608"/>
          </a:xfrm>
          <a:prstGeom prst="rect">
            <a:avLst/>
          </a:prstGeom>
        </p:spPr>
      </p:pic>
      <p:sp>
        <p:nvSpPr>
          <p:cNvPr id="15" name="Text 10"/>
          <p:cNvSpPr txBox="1"/>
          <p:nvPr/>
        </p:nvSpPr>
        <p:spPr>
          <a:xfrm>
            <a:off x="5715000" y="4069080"/>
            <a:ext cx="5882335" cy="914400"/>
          </a:xfrm>
          <a:prstGeom prst="rect">
            <a:avLst/>
          </a:prstGeom>
          <a:noFill/>
          <a:ln/>
        </p:spPr>
        <p:txBody>
          <a:bodyPr wrap="square" lIns="0" tIns="0" rIns="0" bIns="0" rtlCol="0" anchor="ctr"/>
          <a:lstStyle/>
          <a:p>
            <a:pPr indent="0" marL="0">
              <a:lnSpc>
                <a:spcPct val="120000"/>
              </a:lnSpc>
              <a:buNone/>
            </a:pPr>
            <a:r>
              <a:rPr lang="en-US" sz="1400" b="1" dirty="0">
                <a:solidFill>
                  <a:srgbClr val="EAF1F7"/>
                </a:solidFill>
                <a:latin typeface="Calibri" pitchFamily="34" charset="0"/>
                <a:ea typeface="Calibri" pitchFamily="34" charset="-122"/>
                <a:cs typeface="Calibri" pitchFamily="34" charset="-120"/>
              </a:rPr>
              <a:t>MAE / RMSE </a:t>
            </a:r>
            <a:pPr indent="0" marL="0">
              <a:lnSpc>
                <a:spcPct val="120000"/>
              </a:lnSpc>
              <a:buNone/>
            </a:pPr>
            <a:r>
              <a:rPr lang="en-US" sz="1400" dirty="0">
                <a:solidFill>
                  <a:srgbClr val="EAF1F7"/>
                </a:solidFill>
                <a:latin typeface="Calibri" pitchFamily="34" charset="0"/>
                <a:ea typeface="Calibri" pitchFamily="34" charset="-122"/>
                <a:cs typeface="Calibri" pitchFamily="34" charset="-120"/>
              </a:rPr>
              <a:t>in bpm, whole-clip heart rate, subject-independent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1420"/>
        </a:solidFill>
      </p:bgPr>
    </p:bg>
    <p:spTree>
      <p:nvGrpSpPr>
        <p:cNvPr id="1" name=""/>
        <p:cNvGrpSpPr/>
        <p:nvPr/>
      </p:nvGrpSpPr>
      <p:grpSpPr>
        <a:xfrm>
          <a:off x="0" y="0"/>
          <a:ext cx="0" cy="0"/>
          <a:chOff x="0" y="0"/>
          <a:chExt cx="0" cy="0"/>
        </a:xfrm>
      </p:grpSpPr>
      <p:sp>
        <p:nvSpPr>
          <p:cNvPr id="2" name="Text 0"/>
          <p:cNvSpPr txBox="1"/>
          <p:nvPr/>
        </p:nvSpPr>
        <p:spPr>
          <a:xfrm>
            <a:off x="502920" y="365760"/>
            <a:ext cx="11185855" cy="292608"/>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04 · OUTCOMES</a:t>
            </a:r>
            <a:endParaRPr lang="en-US" sz="1200" dirty="0"/>
          </a:p>
        </p:txBody>
      </p:sp>
      <p:sp>
        <p:nvSpPr>
          <p:cNvPr id="3" name="Text 1"/>
          <p:cNvSpPr txBox="1"/>
          <p:nvPr/>
        </p:nvSpPr>
        <p:spPr>
          <a:xfrm>
            <a:off x="502920" y="658368"/>
            <a:ext cx="11185855" cy="685800"/>
          </a:xfrm>
          <a:prstGeom prst="rect">
            <a:avLst/>
          </a:prstGeom>
          <a:noFill/>
          <a:ln/>
        </p:spPr>
        <p:txBody>
          <a:bodyPr wrap="square" lIns="0" tIns="0" rIns="0" bIns="0" rtlCol="0" anchor="t"/>
          <a:lstStyle/>
          <a:p>
            <a:pPr indent="0" marL="0">
              <a:lnSpc>
                <a:spcPct val="105000"/>
              </a:lnSpc>
              <a:buNone/>
            </a:pPr>
            <a:r>
              <a:rPr lang="en-US" sz="2300" b="1" dirty="0">
                <a:solidFill>
                  <a:srgbClr val="EAF1F7"/>
                </a:solidFill>
                <a:latin typeface="Calibri" pitchFamily="34" charset="0"/>
                <a:ea typeface="Calibri" pitchFamily="34" charset="-122"/>
                <a:cs typeface="Calibri" pitchFamily="34" charset="-120"/>
              </a:rPr>
              <a:t>Validating the Pipeline: Implementation Defects Identified and Resolved</a:t>
            </a:r>
            <a:endParaRPr lang="en-US" sz="2300" dirty="0"/>
          </a:p>
        </p:txBody>
      </p:sp>
      <p:sp>
        <p:nvSpPr>
          <p:cNvPr id="4" name="Shape 2"/>
          <p:cNvSpPr/>
          <p:nvPr/>
        </p:nvSpPr>
        <p:spPr>
          <a:xfrm>
            <a:off x="502920" y="1691640"/>
            <a:ext cx="4663440" cy="1005840"/>
          </a:xfrm>
          <a:prstGeom prst="roundRect">
            <a:avLst>
              <a:gd name="adj" fmla="val 9091"/>
            </a:avLst>
          </a:prstGeom>
          <a:solidFill>
            <a:srgbClr val="0D1E30"/>
          </a:solidFill>
          <a:ln/>
        </p:spPr>
      </p:sp>
      <p:sp>
        <p:nvSpPr>
          <p:cNvPr id="5" name="Text 3"/>
          <p:cNvSpPr txBox="1"/>
          <p:nvPr/>
        </p:nvSpPr>
        <p:spPr>
          <a:xfrm>
            <a:off x="731520" y="1801368"/>
            <a:ext cx="4206240" cy="292608"/>
          </a:xfrm>
          <a:prstGeom prst="rect">
            <a:avLst/>
          </a:prstGeom>
          <a:noFill/>
          <a:ln/>
        </p:spPr>
        <p:txBody>
          <a:bodyPr wrap="square" lIns="0" tIns="0" rIns="0" bIns="0" rtlCol="0" anchor="ctr"/>
          <a:lstStyle/>
          <a:p>
            <a:pPr indent="0" marL="0">
              <a:buNone/>
            </a:pPr>
            <a:r>
              <a:rPr lang="en-US" sz="1350" b="1" dirty="0">
                <a:solidFill>
                  <a:srgbClr val="EAF1F7"/>
                </a:solidFill>
                <a:latin typeface="Calibri" pitchFamily="34" charset="0"/>
                <a:ea typeface="Calibri" pitchFamily="34" charset="-122"/>
                <a:cs typeface="Calibri" pitchFamily="34" charset="-120"/>
              </a:rPr>
              <a:t>CHROM normalization defect</a:t>
            </a:r>
            <a:endParaRPr lang="en-US" sz="1350" dirty="0"/>
          </a:p>
        </p:txBody>
      </p:sp>
      <p:sp>
        <p:nvSpPr>
          <p:cNvPr id="6" name="Text 4"/>
          <p:cNvSpPr txBox="1"/>
          <p:nvPr/>
        </p:nvSpPr>
        <p:spPr>
          <a:xfrm>
            <a:off x="731520" y="2093976"/>
            <a:ext cx="4206240" cy="256032"/>
          </a:xfrm>
          <a:prstGeom prst="rect">
            <a:avLst/>
          </a:prstGeom>
          <a:noFill/>
          <a:ln/>
        </p:spPr>
        <p:txBody>
          <a:bodyPr wrap="square" lIns="0" tIns="0" rIns="0" bIns="0" rtlCol="0" anchor="ctr"/>
          <a:lstStyle/>
          <a:p>
            <a:pPr indent="0" marL="0">
              <a:buNone/>
            </a:pPr>
            <a:r>
              <a:rPr lang="en-US" sz="1050" dirty="0">
                <a:solidFill>
                  <a:srgbClr val="8EA3B8"/>
                </a:solidFill>
                <a:latin typeface="Calibri" pitchFamily="34" charset="0"/>
                <a:ea typeface="Calibri" pitchFamily="34" charset="-122"/>
                <a:cs typeface="Calibri" pitchFamily="34" charset="-120"/>
              </a:rPr>
              <a:t>Missing per-window demean step</a:t>
            </a:r>
            <a:endParaRPr lang="en-US" sz="1050" dirty="0"/>
          </a:p>
        </p:txBody>
      </p:sp>
      <p:sp>
        <p:nvSpPr>
          <p:cNvPr id="7" name="Text 5"/>
          <p:cNvSpPr txBox="1"/>
          <p:nvPr/>
        </p:nvSpPr>
        <p:spPr>
          <a:xfrm>
            <a:off x="731520" y="2350008"/>
            <a:ext cx="4206240" cy="274320"/>
          </a:xfrm>
          <a:prstGeom prst="rect">
            <a:avLst/>
          </a:prstGeom>
          <a:noFill/>
          <a:ln/>
        </p:spPr>
        <p:txBody>
          <a:bodyPr wrap="square" lIns="0" tIns="0" rIns="0" bIns="0" rtlCol="0" anchor="ctr"/>
          <a:lstStyle/>
          <a:p>
            <a:pPr indent="0" marL="0">
              <a:buNone/>
            </a:pPr>
            <a:r>
              <a:rPr lang="en-US" sz="1250" b="1" dirty="0">
                <a:solidFill>
                  <a:srgbClr val="2DD4BF"/>
                </a:solidFill>
                <a:latin typeface="Calibri" pitchFamily="34" charset="0"/>
                <a:ea typeface="Calibri" pitchFamily="34" charset="-122"/>
                <a:cs typeface="Calibri" pitchFamily="34" charset="-120"/>
              </a:rPr>
              <a:t>34.5 → 0.7 bpm</a:t>
            </a:r>
            <a:endParaRPr lang="en-US" sz="1250" dirty="0"/>
          </a:p>
        </p:txBody>
      </p:sp>
      <p:sp>
        <p:nvSpPr>
          <p:cNvPr id="8" name="Shape 6"/>
          <p:cNvSpPr/>
          <p:nvPr/>
        </p:nvSpPr>
        <p:spPr>
          <a:xfrm>
            <a:off x="502920" y="2834640"/>
            <a:ext cx="4663440" cy="1005840"/>
          </a:xfrm>
          <a:prstGeom prst="roundRect">
            <a:avLst>
              <a:gd name="adj" fmla="val 9091"/>
            </a:avLst>
          </a:prstGeom>
          <a:solidFill>
            <a:srgbClr val="0D1E30"/>
          </a:solidFill>
          <a:ln/>
        </p:spPr>
      </p:sp>
      <p:sp>
        <p:nvSpPr>
          <p:cNvPr id="9" name="Text 7"/>
          <p:cNvSpPr txBox="1"/>
          <p:nvPr/>
        </p:nvSpPr>
        <p:spPr>
          <a:xfrm>
            <a:off x="731520" y="2944368"/>
            <a:ext cx="4206240" cy="292608"/>
          </a:xfrm>
          <a:prstGeom prst="rect">
            <a:avLst/>
          </a:prstGeom>
          <a:noFill/>
          <a:ln/>
        </p:spPr>
        <p:txBody>
          <a:bodyPr wrap="square" lIns="0" tIns="0" rIns="0" bIns="0" rtlCol="0" anchor="ctr"/>
          <a:lstStyle/>
          <a:p>
            <a:pPr indent="0" marL="0">
              <a:buNone/>
            </a:pPr>
            <a:r>
              <a:rPr lang="en-US" sz="1350" b="1" dirty="0">
                <a:solidFill>
                  <a:srgbClr val="EAF1F7"/>
                </a:solidFill>
                <a:latin typeface="Calibri" pitchFamily="34" charset="0"/>
                <a:ea typeface="Calibri" pitchFamily="34" charset="-122"/>
                <a:cs typeface="Calibri" pitchFamily="34" charset="-120"/>
              </a:rPr>
              <a:t>PhysNet reconstruction defect</a:t>
            </a:r>
            <a:endParaRPr lang="en-US" sz="1350" dirty="0"/>
          </a:p>
        </p:txBody>
      </p:sp>
      <p:sp>
        <p:nvSpPr>
          <p:cNvPr id="10" name="Text 8"/>
          <p:cNvSpPr txBox="1"/>
          <p:nvPr/>
        </p:nvSpPr>
        <p:spPr>
          <a:xfrm>
            <a:off x="731520" y="3236976"/>
            <a:ext cx="4206240" cy="256032"/>
          </a:xfrm>
          <a:prstGeom prst="rect">
            <a:avLst/>
          </a:prstGeom>
          <a:noFill/>
          <a:ln/>
        </p:spPr>
        <p:txBody>
          <a:bodyPr wrap="square" lIns="0" tIns="0" rIns="0" bIns="0" rtlCol="0" anchor="ctr"/>
          <a:lstStyle/>
          <a:p>
            <a:pPr indent="0" marL="0">
              <a:buNone/>
            </a:pPr>
            <a:r>
              <a:rPr lang="en-US" sz="1050" dirty="0">
                <a:solidFill>
                  <a:srgbClr val="8EA3B8"/>
                </a:solidFill>
                <a:latin typeface="Calibri" pitchFamily="34" charset="0"/>
                <a:ea typeface="Calibri" pitchFamily="34" charset="-122"/>
                <a:cs typeface="Calibri" pitchFamily="34" charset="-120"/>
              </a:rPr>
              <a:t>Chunk-boundary splicing artifact</a:t>
            </a:r>
            <a:endParaRPr lang="en-US" sz="1050" dirty="0"/>
          </a:p>
        </p:txBody>
      </p:sp>
      <p:sp>
        <p:nvSpPr>
          <p:cNvPr id="11" name="Text 9"/>
          <p:cNvSpPr txBox="1"/>
          <p:nvPr/>
        </p:nvSpPr>
        <p:spPr>
          <a:xfrm>
            <a:off x="731520" y="3493008"/>
            <a:ext cx="4206240" cy="274320"/>
          </a:xfrm>
          <a:prstGeom prst="rect">
            <a:avLst/>
          </a:prstGeom>
          <a:noFill/>
          <a:ln/>
        </p:spPr>
        <p:txBody>
          <a:bodyPr wrap="square" lIns="0" tIns="0" rIns="0" bIns="0" rtlCol="0" anchor="ctr"/>
          <a:lstStyle/>
          <a:p>
            <a:pPr indent="0" marL="0">
              <a:buNone/>
            </a:pPr>
            <a:r>
              <a:rPr lang="en-US" sz="1250" b="1" dirty="0">
                <a:solidFill>
                  <a:srgbClr val="2DD4BF"/>
                </a:solidFill>
                <a:latin typeface="Calibri" pitchFamily="34" charset="0"/>
                <a:ea typeface="Calibri" pitchFamily="34" charset="-122"/>
                <a:cs typeface="Calibri" pitchFamily="34" charset="-120"/>
              </a:rPr>
              <a:t>Resolved via windowed overlap-add</a:t>
            </a:r>
            <a:endParaRPr lang="en-US" sz="1250" dirty="0"/>
          </a:p>
        </p:txBody>
      </p:sp>
      <p:sp>
        <p:nvSpPr>
          <p:cNvPr id="12" name="Shape 10"/>
          <p:cNvSpPr/>
          <p:nvPr/>
        </p:nvSpPr>
        <p:spPr>
          <a:xfrm>
            <a:off x="502920" y="3977640"/>
            <a:ext cx="4663440" cy="1005840"/>
          </a:xfrm>
          <a:prstGeom prst="roundRect">
            <a:avLst>
              <a:gd name="adj" fmla="val 9091"/>
            </a:avLst>
          </a:prstGeom>
          <a:solidFill>
            <a:srgbClr val="0D1E30"/>
          </a:solidFill>
          <a:ln/>
        </p:spPr>
      </p:sp>
      <p:sp>
        <p:nvSpPr>
          <p:cNvPr id="13" name="Text 11"/>
          <p:cNvSpPr txBox="1"/>
          <p:nvPr/>
        </p:nvSpPr>
        <p:spPr>
          <a:xfrm>
            <a:off x="731520" y="4087368"/>
            <a:ext cx="4206240" cy="292608"/>
          </a:xfrm>
          <a:prstGeom prst="rect">
            <a:avLst/>
          </a:prstGeom>
          <a:noFill/>
          <a:ln/>
        </p:spPr>
        <p:txBody>
          <a:bodyPr wrap="square" lIns="0" tIns="0" rIns="0" bIns="0" rtlCol="0" anchor="ctr"/>
          <a:lstStyle/>
          <a:p>
            <a:pPr indent="0" marL="0">
              <a:buNone/>
            </a:pPr>
            <a:r>
              <a:rPr lang="en-US" sz="1350" b="1" dirty="0">
                <a:solidFill>
                  <a:srgbClr val="EAF1F7"/>
                </a:solidFill>
                <a:latin typeface="Calibri" pitchFamily="34" charset="0"/>
                <a:ea typeface="Calibri" pitchFamily="34" charset="-122"/>
                <a:cs typeface="Calibri" pitchFamily="34" charset="-120"/>
              </a:rPr>
              <a:t>Face-detector front end</a:t>
            </a:r>
            <a:endParaRPr lang="en-US" sz="1350" dirty="0"/>
          </a:p>
        </p:txBody>
      </p:sp>
      <p:sp>
        <p:nvSpPr>
          <p:cNvPr id="14" name="Text 12"/>
          <p:cNvSpPr txBox="1"/>
          <p:nvPr/>
        </p:nvSpPr>
        <p:spPr>
          <a:xfrm>
            <a:off x="731520" y="4379976"/>
            <a:ext cx="4206240" cy="256032"/>
          </a:xfrm>
          <a:prstGeom prst="rect">
            <a:avLst/>
          </a:prstGeom>
          <a:noFill/>
          <a:ln/>
        </p:spPr>
        <p:txBody>
          <a:bodyPr wrap="square" lIns="0" tIns="0" rIns="0" bIns="0" rtlCol="0" anchor="ctr"/>
          <a:lstStyle/>
          <a:p>
            <a:pPr indent="0" marL="0">
              <a:buNone/>
            </a:pPr>
            <a:r>
              <a:rPr lang="en-US" sz="1050" dirty="0">
                <a:solidFill>
                  <a:srgbClr val="8EA3B8"/>
                </a:solidFill>
                <a:latin typeface="Calibri" pitchFamily="34" charset="0"/>
                <a:ea typeface="Calibri" pitchFamily="34" charset="-122"/>
                <a:cs typeface="Calibri" pitchFamily="34" charset="-120"/>
              </a:rPr>
              <a:t>Haar cascade produced clothing-dominated crops</a:t>
            </a:r>
            <a:endParaRPr lang="en-US" sz="1050" dirty="0"/>
          </a:p>
        </p:txBody>
      </p:sp>
      <p:sp>
        <p:nvSpPr>
          <p:cNvPr id="15" name="Text 13"/>
          <p:cNvSpPr txBox="1"/>
          <p:nvPr/>
        </p:nvSpPr>
        <p:spPr>
          <a:xfrm>
            <a:off x="731520" y="4636008"/>
            <a:ext cx="4206240" cy="274320"/>
          </a:xfrm>
          <a:prstGeom prst="rect">
            <a:avLst/>
          </a:prstGeom>
          <a:noFill/>
          <a:ln/>
        </p:spPr>
        <p:txBody>
          <a:bodyPr wrap="square" lIns="0" tIns="0" rIns="0" bIns="0" rtlCol="0" anchor="ctr"/>
          <a:lstStyle/>
          <a:p>
            <a:pPr indent="0" marL="0">
              <a:buNone/>
            </a:pPr>
            <a:r>
              <a:rPr lang="en-US" sz="1250" b="1" dirty="0">
                <a:solidFill>
                  <a:srgbClr val="2DD4BF"/>
                </a:solidFill>
                <a:latin typeface="Calibri" pitchFamily="34" charset="0"/>
                <a:ea typeface="Calibri" pitchFamily="34" charset="-122"/>
                <a:cs typeface="Calibri" pitchFamily="34" charset="-120"/>
              </a:rPr>
              <a:t>Resolved via DNN-based detector</a:t>
            </a:r>
            <a:endParaRPr lang="en-US" sz="1250" dirty="0"/>
          </a:p>
        </p:txBody>
      </p:sp>
      <p:sp>
        <p:nvSpPr>
          <p:cNvPr id="16" name="Shape 14"/>
          <p:cNvSpPr/>
          <p:nvPr/>
        </p:nvSpPr>
        <p:spPr>
          <a:xfrm>
            <a:off x="5394960" y="1691640"/>
            <a:ext cx="6293815" cy="3520440"/>
          </a:xfrm>
          <a:prstGeom prst="roundRect">
            <a:avLst>
              <a:gd name="adj" fmla="val 3636"/>
            </a:avLst>
          </a:prstGeom>
          <a:solidFill>
            <a:srgbClr val="081420"/>
          </a:solidFill>
          <a:ln w="12700">
            <a:solidFill>
              <a:srgbClr val="1C324D"/>
            </a:solidFill>
            <a:prstDash val="solid"/>
          </a:ln>
        </p:spPr>
      </p:sp>
      <p:pic>
        <p:nvPicPr>
          <p:cNvPr id="17" name="Image 0" descr="C:\Users\tausif\CSE 754\report\figures\dark\fig2_detector_before_after.png">    </p:cNvPr>
          <p:cNvPicPr>
            <a:picLocks noChangeAspect="1"/>
          </p:cNvPicPr>
          <p:nvPr/>
        </p:nvPicPr>
        <p:blipFill>
          <a:blip r:embed="rId1"/>
          <a:srcRect l="0" r="0" t="0" b="0"/>
          <a:stretch/>
        </p:blipFill>
        <p:spPr>
          <a:xfrm>
            <a:off x="5532120" y="1783080"/>
            <a:ext cx="6019495" cy="33375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1420"/>
        </a:solidFill>
      </p:bgPr>
    </p:bg>
    <p:spTree>
      <p:nvGrpSpPr>
        <p:cNvPr id="1" name=""/>
        <p:cNvGrpSpPr/>
        <p:nvPr/>
      </p:nvGrpSpPr>
      <p:grpSpPr>
        <a:xfrm>
          <a:off x="0" y="0"/>
          <a:ext cx="0" cy="0"/>
          <a:chOff x="0" y="0"/>
          <a:chExt cx="0" cy="0"/>
        </a:xfrm>
      </p:grpSpPr>
      <p:sp>
        <p:nvSpPr>
          <p:cNvPr id="2" name="Text 0"/>
          <p:cNvSpPr txBox="1"/>
          <p:nvPr/>
        </p:nvSpPr>
        <p:spPr>
          <a:xfrm>
            <a:off x="502920" y="365760"/>
            <a:ext cx="11185855" cy="292608"/>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04 · OUTCOMES</a:t>
            </a:r>
            <a:endParaRPr lang="en-US" sz="1200" dirty="0"/>
          </a:p>
        </p:txBody>
      </p:sp>
      <p:sp>
        <p:nvSpPr>
          <p:cNvPr id="3" name="Text 1"/>
          <p:cNvSpPr txBox="1"/>
          <p:nvPr/>
        </p:nvSpPr>
        <p:spPr>
          <a:xfrm>
            <a:off x="502920" y="658368"/>
            <a:ext cx="11185855" cy="822960"/>
          </a:xfrm>
          <a:prstGeom prst="rect">
            <a:avLst/>
          </a:prstGeom>
          <a:noFill/>
          <a:ln/>
        </p:spPr>
        <p:txBody>
          <a:bodyPr wrap="square" lIns="0" tIns="0" rIns="0" bIns="0" rtlCol="0" anchor="t"/>
          <a:lstStyle/>
          <a:p>
            <a:pPr indent="0" marL="0">
              <a:lnSpc>
                <a:spcPct val="105000"/>
              </a:lnSpc>
              <a:buNone/>
            </a:pPr>
            <a:r>
              <a:rPr lang="en-US" sz="2600" b="1" dirty="0">
                <a:solidFill>
                  <a:srgbClr val="EAF1F7"/>
                </a:solidFill>
                <a:latin typeface="Calibri" pitchFamily="34" charset="0"/>
                <a:ea typeface="Calibri" pitchFamily="34" charset="-122"/>
                <a:cs typeface="Calibri" pitchFamily="34" charset="-120"/>
              </a:rPr>
              <a:t>Validated Baseline Reproduction</a:t>
            </a:r>
            <a:endParaRPr lang="en-US" sz="2600" dirty="0"/>
          </a:p>
        </p:txBody>
      </p:sp>
      <p:sp>
        <p:nvSpPr>
          <p:cNvPr id="4" name="Shape 2"/>
          <p:cNvSpPr/>
          <p:nvPr/>
        </p:nvSpPr>
        <p:spPr>
          <a:xfrm>
            <a:off x="502920" y="1828800"/>
            <a:ext cx="7040880" cy="3840480"/>
          </a:xfrm>
          <a:prstGeom prst="roundRect">
            <a:avLst>
              <a:gd name="adj" fmla="val 3810"/>
            </a:avLst>
          </a:prstGeom>
          <a:solidFill>
            <a:srgbClr val="081420"/>
          </a:solidFill>
          <a:ln w="12700">
            <a:solidFill>
              <a:srgbClr val="1C324D"/>
            </a:solidFill>
            <a:prstDash val="solid"/>
          </a:ln>
        </p:spPr>
      </p:sp>
      <p:pic>
        <p:nvPicPr>
          <p:cNvPr id="5" name="Image 0" descr="C:\Users\tausif\CSE 754\report\figures\dark\fig1_step4_mae_by_method.png">    </p:cNvPr>
          <p:cNvPicPr>
            <a:picLocks noChangeAspect="1"/>
          </p:cNvPicPr>
          <p:nvPr/>
        </p:nvPicPr>
        <p:blipFill>
          <a:blip r:embed="rId1"/>
          <a:srcRect l="0" r="0" t="0" b="0"/>
          <a:stretch/>
        </p:blipFill>
        <p:spPr>
          <a:xfrm>
            <a:off x="640080" y="1965960"/>
            <a:ext cx="6766560" cy="3566160"/>
          </a:xfrm>
          <a:prstGeom prst="rect">
            <a:avLst/>
          </a:prstGeom>
        </p:spPr>
      </p:pic>
      <p:sp>
        <p:nvSpPr>
          <p:cNvPr id="6" name="Shape 3"/>
          <p:cNvSpPr/>
          <p:nvPr/>
        </p:nvSpPr>
        <p:spPr>
          <a:xfrm>
            <a:off x="7863840" y="1965960"/>
            <a:ext cx="3824935" cy="1417320"/>
          </a:xfrm>
          <a:prstGeom prst="roundRect">
            <a:avLst>
              <a:gd name="adj" fmla="val 9032"/>
            </a:avLst>
          </a:prstGeom>
          <a:solidFill>
            <a:srgbClr val="0D1E30"/>
          </a:solidFill>
          <a:ln/>
        </p:spPr>
      </p:sp>
      <p:sp>
        <p:nvSpPr>
          <p:cNvPr id="7" name="Text 4"/>
          <p:cNvSpPr txBox="1"/>
          <p:nvPr/>
        </p:nvSpPr>
        <p:spPr>
          <a:xfrm>
            <a:off x="8092440" y="2121408"/>
            <a:ext cx="3367735" cy="320040"/>
          </a:xfrm>
          <a:prstGeom prst="rect">
            <a:avLst/>
          </a:prstGeom>
          <a:noFill/>
          <a:ln/>
        </p:spPr>
        <p:txBody>
          <a:bodyPr wrap="square" lIns="0" tIns="0" rIns="0" bIns="0" rtlCol="0" anchor="ctr"/>
          <a:lstStyle/>
          <a:p>
            <a:pPr indent="0" marL="0">
              <a:buNone/>
            </a:pPr>
            <a:r>
              <a:rPr lang="en-US" sz="1200" dirty="0">
                <a:solidFill>
                  <a:srgbClr val="8EA3B8"/>
                </a:solidFill>
                <a:latin typeface="Calibri" pitchFamily="34" charset="0"/>
                <a:ea typeface="Calibri" pitchFamily="34" charset="-122"/>
                <a:cs typeface="Calibri" pitchFamily="34" charset="-120"/>
              </a:rPr>
              <a:t>All 4 methods, held-out test split</a:t>
            </a:r>
            <a:endParaRPr lang="en-US" sz="1200" dirty="0"/>
          </a:p>
        </p:txBody>
      </p:sp>
      <p:sp>
        <p:nvSpPr>
          <p:cNvPr id="8" name="Text 5"/>
          <p:cNvSpPr txBox="1"/>
          <p:nvPr/>
        </p:nvSpPr>
        <p:spPr>
          <a:xfrm>
            <a:off x="8092440" y="2423160"/>
            <a:ext cx="3367735" cy="777240"/>
          </a:xfrm>
          <a:prstGeom prst="rect">
            <a:avLst/>
          </a:prstGeom>
          <a:noFill/>
          <a:ln/>
        </p:spPr>
        <p:txBody>
          <a:bodyPr wrap="square" lIns="0" tIns="0" rIns="0" bIns="0" rtlCol="0" anchor="ctr"/>
          <a:lstStyle/>
          <a:p>
            <a:pPr indent="0" marL="0">
              <a:buNone/>
            </a:pPr>
            <a:r>
              <a:rPr lang="en-US" sz="3000" b="1" dirty="0">
                <a:solidFill>
                  <a:srgbClr val="2DD4BF"/>
                </a:solidFill>
                <a:latin typeface="Calibri" pitchFamily="34" charset="0"/>
                <a:ea typeface="Calibri" pitchFamily="34" charset="-122"/>
                <a:cs typeface="Calibri" pitchFamily="34" charset="-120"/>
              </a:rPr>
              <a:t>0.2–1.5 bpm</a:t>
            </a:r>
            <a:endParaRPr lang="en-US" sz="3000" dirty="0"/>
          </a:p>
        </p:txBody>
      </p:sp>
      <p:sp>
        <p:nvSpPr>
          <p:cNvPr id="9" name="Shape 6"/>
          <p:cNvSpPr/>
          <p:nvPr/>
        </p:nvSpPr>
        <p:spPr>
          <a:xfrm>
            <a:off x="7863840" y="3566160"/>
            <a:ext cx="3824935" cy="1417320"/>
          </a:xfrm>
          <a:prstGeom prst="roundRect">
            <a:avLst>
              <a:gd name="adj" fmla="val 9032"/>
            </a:avLst>
          </a:prstGeom>
          <a:solidFill>
            <a:srgbClr val="0D1E30"/>
          </a:solidFill>
          <a:ln/>
        </p:spPr>
      </p:sp>
      <p:sp>
        <p:nvSpPr>
          <p:cNvPr id="10" name="Text 7"/>
          <p:cNvSpPr txBox="1"/>
          <p:nvPr/>
        </p:nvSpPr>
        <p:spPr>
          <a:xfrm>
            <a:off x="8092440" y="3721608"/>
            <a:ext cx="3367735" cy="457200"/>
          </a:xfrm>
          <a:prstGeom prst="rect">
            <a:avLst/>
          </a:prstGeom>
          <a:noFill/>
          <a:ln/>
        </p:spPr>
        <p:txBody>
          <a:bodyPr wrap="square" lIns="0" tIns="0" rIns="0" bIns="0" rtlCol="0" anchor="ctr"/>
          <a:lstStyle/>
          <a:p>
            <a:pPr indent="0" marL="0">
              <a:buNone/>
            </a:pPr>
            <a:r>
              <a:rPr lang="en-US" sz="1200" dirty="0">
                <a:solidFill>
                  <a:srgbClr val="8EA3B8"/>
                </a:solidFill>
                <a:latin typeface="Calibri" pitchFamily="34" charset="0"/>
                <a:ea typeface="Calibri" pitchFamily="34" charset="-122"/>
                <a:cs typeface="Calibri" pitchFamily="34" charset="-120"/>
              </a:rPr>
              <a:t>PhysNet vs. published benchmark</a:t>
            </a:r>
            <a:endParaRPr lang="en-US" sz="1200" dirty="0"/>
          </a:p>
        </p:txBody>
      </p:sp>
      <p:sp>
        <p:nvSpPr>
          <p:cNvPr id="11" name="Text 8"/>
          <p:cNvSpPr txBox="1"/>
          <p:nvPr/>
        </p:nvSpPr>
        <p:spPr>
          <a:xfrm>
            <a:off x="8092440" y="4069080"/>
            <a:ext cx="3367735" cy="777240"/>
          </a:xfrm>
          <a:prstGeom prst="rect">
            <a:avLst/>
          </a:prstGeom>
          <a:noFill/>
          <a:ln/>
        </p:spPr>
        <p:txBody>
          <a:bodyPr wrap="square" lIns="0" tIns="0" rIns="0" bIns="0" rtlCol="0" anchor="ctr"/>
          <a:lstStyle/>
          <a:p>
            <a:pPr indent="0" marL="0">
              <a:buNone/>
            </a:pPr>
            <a:r>
              <a:rPr lang="en-US" sz="2300" b="1" dirty="0">
                <a:solidFill>
                  <a:srgbClr val="38BDF8"/>
                </a:solidFill>
                <a:latin typeface="Calibri" pitchFamily="34" charset="0"/>
                <a:ea typeface="Calibri" pitchFamily="34" charset="-122"/>
                <a:cs typeface="Calibri" pitchFamily="34" charset="-120"/>
              </a:rPr>
              <a:t>1.62 vs 1.63 bpm</a:t>
            </a:r>
            <a:endParaRPr lang="en-US" sz="2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1420"/>
        </a:solidFill>
      </p:bgPr>
    </p:bg>
    <p:spTree>
      <p:nvGrpSpPr>
        <p:cNvPr id="1" name=""/>
        <p:cNvGrpSpPr/>
        <p:nvPr/>
      </p:nvGrpSpPr>
      <p:grpSpPr>
        <a:xfrm>
          <a:off x="0" y="0"/>
          <a:ext cx="0" cy="0"/>
          <a:chOff x="0" y="0"/>
          <a:chExt cx="0" cy="0"/>
        </a:xfrm>
      </p:grpSpPr>
      <p:sp>
        <p:nvSpPr>
          <p:cNvPr id="2" name="Text 0"/>
          <p:cNvSpPr txBox="1"/>
          <p:nvPr/>
        </p:nvSpPr>
        <p:spPr>
          <a:xfrm>
            <a:off x="502920" y="365760"/>
            <a:ext cx="11185855" cy="292608"/>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04 · OUTCOMES</a:t>
            </a:r>
            <a:endParaRPr lang="en-US" sz="1200" dirty="0"/>
          </a:p>
        </p:txBody>
      </p:sp>
      <p:sp>
        <p:nvSpPr>
          <p:cNvPr id="3" name="Text 1"/>
          <p:cNvSpPr txBox="1"/>
          <p:nvPr/>
        </p:nvSpPr>
        <p:spPr>
          <a:xfrm>
            <a:off x="502920" y="658368"/>
            <a:ext cx="11185855" cy="822960"/>
          </a:xfrm>
          <a:prstGeom prst="rect">
            <a:avLst/>
          </a:prstGeom>
          <a:noFill/>
          <a:ln/>
        </p:spPr>
        <p:txBody>
          <a:bodyPr wrap="square" lIns="0" tIns="0" rIns="0" bIns="0" rtlCol="0" anchor="t"/>
          <a:lstStyle/>
          <a:p>
            <a:pPr indent="0" marL="0">
              <a:lnSpc>
                <a:spcPct val="105000"/>
              </a:lnSpc>
              <a:buNone/>
            </a:pPr>
            <a:r>
              <a:rPr lang="en-US" sz="2500" b="1" dirty="0">
                <a:solidFill>
                  <a:srgbClr val="EAF1F7"/>
                </a:solidFill>
                <a:latin typeface="Calibri" pitchFamily="34" charset="0"/>
                <a:ea typeface="Calibri" pitchFamily="34" charset="-122"/>
                <a:cs typeface="Calibri" pitchFamily="34" charset="-120"/>
              </a:rPr>
              <a:t>Diagnosing a Cross-Domain Accuracy Anomaly</a:t>
            </a:r>
            <a:endParaRPr lang="en-US" sz="2500" dirty="0"/>
          </a:p>
        </p:txBody>
      </p:sp>
      <p:sp>
        <p:nvSpPr>
          <p:cNvPr id="4" name="Shape 2"/>
          <p:cNvSpPr/>
          <p:nvPr/>
        </p:nvSpPr>
        <p:spPr>
          <a:xfrm>
            <a:off x="502920" y="1874520"/>
            <a:ext cx="5120640" cy="3749040"/>
          </a:xfrm>
          <a:prstGeom prst="roundRect">
            <a:avLst>
              <a:gd name="adj" fmla="val 3902"/>
            </a:avLst>
          </a:prstGeom>
          <a:solidFill>
            <a:srgbClr val="081420"/>
          </a:solidFill>
          <a:ln w="12700">
            <a:solidFill>
              <a:srgbClr val="1C324D"/>
            </a:solidFill>
            <a:prstDash val="solid"/>
          </a:ln>
        </p:spPr>
      </p:sp>
      <p:pic>
        <p:nvPicPr>
          <p:cNvPr id="5" name="Image 0" descr="C:\Users\tausif\CSE 754\report\figures\dark\fig4_domain_mismatch.png">    </p:cNvPr>
          <p:cNvPicPr>
            <a:picLocks noChangeAspect="1"/>
          </p:cNvPicPr>
          <p:nvPr/>
        </p:nvPicPr>
        <p:blipFill>
          <a:blip r:embed="rId1"/>
          <a:srcRect l="0" r="0" t="0" b="0"/>
          <a:stretch/>
        </p:blipFill>
        <p:spPr>
          <a:xfrm>
            <a:off x="640080" y="2011680"/>
            <a:ext cx="4846320" cy="3474720"/>
          </a:xfrm>
          <a:prstGeom prst="rect">
            <a:avLst/>
          </a:prstGeom>
        </p:spPr>
      </p:pic>
      <p:sp>
        <p:nvSpPr>
          <p:cNvPr id="6" name="Text 3"/>
          <p:cNvSpPr txBox="1"/>
          <p:nvPr/>
        </p:nvSpPr>
        <p:spPr>
          <a:xfrm>
            <a:off x="6309360" y="1920240"/>
            <a:ext cx="5379415" cy="1005840"/>
          </a:xfrm>
          <a:prstGeom prst="rect">
            <a:avLst/>
          </a:prstGeom>
          <a:noFill/>
          <a:ln/>
        </p:spPr>
        <p:txBody>
          <a:bodyPr wrap="square" lIns="0" tIns="0" rIns="0" bIns="0" rtlCol="0" anchor="ctr"/>
          <a:lstStyle/>
          <a:p>
            <a:pPr indent="0" marL="0">
              <a:lnSpc>
                <a:spcPct val="135000"/>
              </a:lnSpc>
              <a:buNone/>
            </a:pPr>
            <a:r>
              <a:rPr lang="en-US" sz="1450" dirty="0">
                <a:solidFill>
                  <a:srgbClr val="EAF1F7"/>
                </a:solidFill>
                <a:latin typeface="Calibri" pitchFamily="34" charset="0"/>
                <a:ea typeface="Calibri" pitchFamily="34" charset="-122"/>
                <a:cs typeface="Calibri" pitchFamily="34" charset="-120"/>
              </a:rPr>
              <a:t>A checkpoint named "UBFC-rPPG" performed worse than one trained on an entirely different dataset, the opposite of what we’d expect.</a:t>
            </a:r>
            <a:endParaRPr lang="en-US" sz="1450" dirty="0"/>
          </a:p>
        </p:txBody>
      </p:sp>
      <p:sp>
        <p:nvSpPr>
          <p:cNvPr id="7" name="Text 4"/>
          <p:cNvSpPr txBox="1"/>
          <p:nvPr/>
        </p:nvSpPr>
        <p:spPr>
          <a:xfrm>
            <a:off x="6309360" y="2971800"/>
            <a:ext cx="5379415" cy="1005840"/>
          </a:xfrm>
          <a:prstGeom prst="rect">
            <a:avLst/>
          </a:prstGeom>
          <a:noFill/>
          <a:ln/>
        </p:spPr>
        <p:txBody>
          <a:bodyPr wrap="square" lIns="0" tIns="0" rIns="0" bIns="0" rtlCol="0" anchor="ctr"/>
          <a:lstStyle/>
          <a:p>
            <a:pPr indent="0" marL="0">
              <a:lnSpc>
                <a:spcPct val="135000"/>
              </a:lnSpc>
              <a:buNone/>
            </a:pPr>
            <a:r>
              <a:rPr lang="en-US" sz="1450" dirty="0">
                <a:solidFill>
                  <a:srgbClr val="EAF1F7"/>
                </a:solidFill>
                <a:latin typeface="Calibri" pitchFamily="34" charset="0"/>
                <a:ea typeface="Calibri" pitchFamily="34" charset="-122"/>
                <a:cs typeface="Calibri" pitchFamily="34" charset="-120"/>
              </a:rPr>
              <a:t>Tracing the training source code directly showed it was trained on a different release of UBFC-rPPG than the one we tested it on, never truly in-domain at all.</a:t>
            </a:r>
            <a:endParaRPr lang="en-US" sz="1450" dirty="0"/>
          </a:p>
        </p:txBody>
      </p:sp>
      <p:sp>
        <p:nvSpPr>
          <p:cNvPr id="8" name="Shape 5"/>
          <p:cNvSpPr/>
          <p:nvPr/>
        </p:nvSpPr>
        <p:spPr>
          <a:xfrm>
            <a:off x="6309360" y="4160520"/>
            <a:ext cx="5379415" cy="868680"/>
          </a:xfrm>
          <a:prstGeom prst="roundRect">
            <a:avLst>
              <a:gd name="adj" fmla="val 12632"/>
            </a:avLst>
          </a:prstGeom>
          <a:solidFill>
            <a:srgbClr val="0A1A2C"/>
          </a:solidFill>
          <a:ln/>
        </p:spPr>
      </p:sp>
      <p:sp>
        <p:nvSpPr>
          <p:cNvPr id="9" name="Text 6"/>
          <p:cNvSpPr txBox="1"/>
          <p:nvPr/>
        </p:nvSpPr>
        <p:spPr>
          <a:xfrm>
            <a:off x="6537960" y="4160520"/>
            <a:ext cx="4922215" cy="868680"/>
          </a:xfrm>
          <a:prstGeom prst="rect">
            <a:avLst/>
          </a:prstGeom>
          <a:noFill/>
          <a:ln/>
        </p:spPr>
        <p:txBody>
          <a:bodyPr wrap="square" lIns="0" tIns="0" rIns="0" bIns="0" rtlCol="0" anchor="ctr"/>
          <a:lstStyle/>
          <a:p>
            <a:pPr indent="0" marL="0">
              <a:lnSpc>
                <a:spcPct val="130000"/>
              </a:lnSpc>
              <a:buNone/>
            </a:pPr>
            <a:r>
              <a:rPr lang="en-US" sz="1400" dirty="0">
                <a:solidFill>
                  <a:srgbClr val="EAF1F7"/>
                </a:solidFill>
                <a:latin typeface="Calibri" pitchFamily="34" charset="0"/>
                <a:ea typeface="Calibri" pitchFamily="34" charset="-122"/>
                <a:cs typeface="Calibri" pitchFamily="34" charset="-120"/>
              </a:rPr>
              <a:t>Confirmed empirically: re-tested on its correct domain, error dropped </a:t>
            </a:r>
            <a:pPr indent="0" marL="0">
              <a:lnSpc>
                <a:spcPct val="130000"/>
              </a:lnSpc>
              <a:buNone/>
            </a:pPr>
            <a:r>
              <a:rPr lang="en-US" sz="1400" b="1" dirty="0">
                <a:solidFill>
                  <a:srgbClr val="38BDF8"/>
                </a:solidFill>
                <a:latin typeface="Calibri" pitchFamily="34" charset="0"/>
                <a:ea typeface="Calibri" pitchFamily="34" charset="-122"/>
                <a:cs typeface="Calibri" pitchFamily="34" charset="-120"/>
              </a:rPr>
              <a:t>8×</a:t>
            </a:r>
            <a:pPr indent="0" marL="0">
              <a:lnSpc>
                <a:spcPct val="130000"/>
              </a:lnSpc>
              <a:buNone/>
            </a:pPr>
            <a:r>
              <a:rPr lang="en-US" sz="1400" dirty="0">
                <a:solidFill>
                  <a:srgbClr val="EAF1F7"/>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1420"/>
        </a:solidFill>
      </p:bgPr>
    </p:bg>
    <p:spTree>
      <p:nvGrpSpPr>
        <p:cNvPr id="1" name=""/>
        <p:cNvGrpSpPr/>
        <p:nvPr/>
      </p:nvGrpSpPr>
      <p:grpSpPr>
        <a:xfrm>
          <a:off x="0" y="0"/>
          <a:ext cx="0" cy="0"/>
          <a:chOff x="0" y="0"/>
          <a:chExt cx="0" cy="0"/>
        </a:xfrm>
      </p:grpSpPr>
      <p:sp>
        <p:nvSpPr>
          <p:cNvPr id="2" name="Text 0"/>
          <p:cNvSpPr txBox="1"/>
          <p:nvPr/>
        </p:nvSpPr>
        <p:spPr>
          <a:xfrm>
            <a:off x="502920" y="365760"/>
            <a:ext cx="11185855" cy="292608"/>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04 · OUTCOMES</a:t>
            </a:r>
            <a:endParaRPr lang="en-US" sz="1200" dirty="0"/>
          </a:p>
        </p:txBody>
      </p:sp>
      <p:sp>
        <p:nvSpPr>
          <p:cNvPr id="3" name="Text 1"/>
          <p:cNvSpPr txBox="1"/>
          <p:nvPr/>
        </p:nvSpPr>
        <p:spPr>
          <a:xfrm>
            <a:off x="502920" y="658368"/>
            <a:ext cx="11185855" cy="685800"/>
          </a:xfrm>
          <a:prstGeom prst="rect">
            <a:avLst/>
          </a:prstGeom>
          <a:noFill/>
          <a:ln/>
        </p:spPr>
        <p:txBody>
          <a:bodyPr wrap="square" lIns="0" tIns="0" rIns="0" bIns="0" rtlCol="0" anchor="t"/>
          <a:lstStyle/>
          <a:p>
            <a:pPr indent="0" marL="0">
              <a:lnSpc>
                <a:spcPct val="105000"/>
              </a:lnSpc>
              <a:buNone/>
            </a:pPr>
            <a:r>
              <a:rPr lang="en-US" sz="2300" b="1" dirty="0">
                <a:solidFill>
                  <a:srgbClr val="EAF1F7"/>
                </a:solidFill>
                <a:latin typeface="Calibri" pitchFamily="34" charset="0"/>
                <a:ea typeface="Calibri" pitchFamily="34" charset="-122"/>
                <a:cs typeface="Calibri" pitchFamily="34" charset="-120"/>
              </a:rPr>
              <a:t>Cross-Condition Robustness: Resting versus Post-Exercise</a:t>
            </a:r>
            <a:endParaRPr lang="en-US" sz="2300" dirty="0"/>
          </a:p>
        </p:txBody>
      </p:sp>
      <p:sp>
        <p:nvSpPr>
          <p:cNvPr id="4" name="Shape 2"/>
          <p:cNvSpPr/>
          <p:nvPr/>
        </p:nvSpPr>
        <p:spPr>
          <a:xfrm>
            <a:off x="502920" y="1691640"/>
            <a:ext cx="5455768" cy="3429000"/>
          </a:xfrm>
          <a:prstGeom prst="roundRect">
            <a:avLst>
              <a:gd name="adj" fmla="val 3733"/>
            </a:avLst>
          </a:prstGeom>
          <a:solidFill>
            <a:srgbClr val="081420"/>
          </a:solidFill>
          <a:ln w="12700">
            <a:solidFill>
              <a:srgbClr val="1C324D"/>
            </a:solidFill>
            <a:prstDash val="solid"/>
          </a:ln>
        </p:spPr>
      </p:sp>
      <p:pic>
        <p:nvPicPr>
          <p:cNvPr id="5" name="Image 0" descr="C:\Users\tausif\CSE 754\report\figures\dark\fig5_condition_gap.png">    </p:cNvPr>
          <p:cNvPicPr>
            <a:picLocks noChangeAspect="1"/>
          </p:cNvPicPr>
          <p:nvPr/>
        </p:nvPicPr>
        <p:blipFill>
          <a:blip r:embed="rId1"/>
          <a:srcRect l="0" r="0" t="0" b="0"/>
          <a:stretch/>
        </p:blipFill>
        <p:spPr>
          <a:xfrm>
            <a:off x="612648" y="1810512"/>
            <a:ext cx="5236312" cy="3200400"/>
          </a:xfrm>
          <a:prstGeom prst="rect">
            <a:avLst/>
          </a:prstGeom>
        </p:spPr>
      </p:pic>
      <p:sp>
        <p:nvSpPr>
          <p:cNvPr id="6" name="Shape 3"/>
          <p:cNvSpPr/>
          <p:nvPr/>
        </p:nvSpPr>
        <p:spPr>
          <a:xfrm>
            <a:off x="6233008" y="1691640"/>
            <a:ext cx="5455768" cy="3429000"/>
          </a:xfrm>
          <a:prstGeom prst="roundRect">
            <a:avLst>
              <a:gd name="adj" fmla="val 3733"/>
            </a:avLst>
          </a:prstGeom>
          <a:solidFill>
            <a:srgbClr val="081420"/>
          </a:solidFill>
          <a:ln w="12700">
            <a:solidFill>
              <a:srgbClr val="1C324D"/>
            </a:solidFill>
            <a:prstDash val="solid"/>
          </a:ln>
        </p:spPr>
      </p:sp>
      <p:pic>
        <p:nvPicPr>
          <p:cNvPr id="7" name="Image 1" descr="C:\Users\tausif\CSE 754\report\figures\dark\fig6_per_clip_errors_dataset2.png">    </p:cNvPr>
          <p:cNvPicPr>
            <a:picLocks noChangeAspect="1"/>
          </p:cNvPicPr>
          <p:nvPr/>
        </p:nvPicPr>
        <p:blipFill>
          <a:blip r:embed="rId2"/>
          <a:srcRect l="0" r="0" t="0" b="0"/>
          <a:stretch/>
        </p:blipFill>
        <p:spPr>
          <a:xfrm>
            <a:off x="6342736" y="1810512"/>
            <a:ext cx="5236312" cy="3200400"/>
          </a:xfrm>
          <a:prstGeom prst="rect">
            <a:avLst/>
          </a:prstGeom>
        </p:spPr>
      </p:pic>
      <p:sp>
        <p:nvSpPr>
          <p:cNvPr id="8" name="Shape 4"/>
          <p:cNvSpPr/>
          <p:nvPr/>
        </p:nvSpPr>
        <p:spPr>
          <a:xfrm>
            <a:off x="502920" y="5285232"/>
            <a:ext cx="11185855" cy="658368"/>
          </a:xfrm>
          <a:prstGeom prst="roundRect">
            <a:avLst>
              <a:gd name="adj" fmla="val 16667"/>
            </a:avLst>
          </a:prstGeom>
          <a:solidFill>
            <a:srgbClr val="0A1A2C"/>
          </a:solidFill>
          <a:ln/>
        </p:spPr>
      </p:sp>
      <p:pic>
        <p:nvPicPr>
          <p:cNvPr id="9" name="Image 2" descr="C:\Users\tausif\CSE 754\pptx_work\assets\Chat_2DD4BF.png">    </p:cNvPr>
          <p:cNvPicPr>
            <a:picLocks noChangeAspect="1"/>
          </p:cNvPicPr>
          <p:nvPr/>
        </p:nvPicPr>
        <p:blipFill>
          <a:blip r:embed="rId3"/>
          <a:stretch>
            <a:fillRect/>
          </a:stretch>
        </p:blipFill>
        <p:spPr>
          <a:xfrm>
            <a:off x="704088" y="5477256"/>
            <a:ext cx="274320" cy="274320"/>
          </a:xfrm>
          <a:prstGeom prst="rect">
            <a:avLst/>
          </a:prstGeom>
        </p:spPr>
      </p:pic>
      <p:sp>
        <p:nvSpPr>
          <p:cNvPr id="10" name="Text 5"/>
          <p:cNvSpPr txBox="1"/>
          <p:nvPr/>
        </p:nvSpPr>
        <p:spPr>
          <a:xfrm>
            <a:off x="1143000" y="5330952"/>
            <a:ext cx="10271455" cy="566928"/>
          </a:xfrm>
          <a:prstGeom prst="rect">
            <a:avLst/>
          </a:prstGeom>
          <a:noFill/>
          <a:ln/>
        </p:spPr>
        <p:txBody>
          <a:bodyPr wrap="square" lIns="0" tIns="0" rIns="0" bIns="0" rtlCol="0" anchor="ctr"/>
          <a:lstStyle/>
          <a:p>
            <a:pPr indent="0" marL="0">
              <a:lnSpc>
                <a:spcPct val="115000"/>
              </a:lnSpc>
              <a:buNone/>
            </a:pPr>
            <a:r>
              <a:rPr lang="en-US" sz="1400" dirty="0">
                <a:solidFill>
                  <a:srgbClr val="EAF1F7"/>
                </a:solidFill>
                <a:latin typeface="Calibri" pitchFamily="34" charset="0"/>
                <a:ea typeface="Calibri" pitchFamily="34" charset="-122"/>
                <a:cs typeface="Calibri" pitchFamily="34" charset="-120"/>
              </a:rPr>
              <a:t>A modest, real gap for the classical methods (3–7 bpm); no two methods fail on the same subject.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1420"/>
        </a:solidFill>
      </p:bgPr>
    </p:bg>
    <p:spTree>
      <p:nvGrpSpPr>
        <p:cNvPr id="1" name=""/>
        <p:cNvGrpSpPr/>
        <p:nvPr/>
      </p:nvGrpSpPr>
      <p:grpSpPr>
        <a:xfrm>
          <a:off x="0" y="0"/>
          <a:ext cx="0" cy="0"/>
          <a:chOff x="0" y="0"/>
          <a:chExt cx="0" cy="0"/>
        </a:xfrm>
      </p:grpSpPr>
      <p:sp>
        <p:nvSpPr>
          <p:cNvPr id="2" name="Text 0"/>
          <p:cNvSpPr txBox="1"/>
          <p:nvPr/>
        </p:nvSpPr>
        <p:spPr>
          <a:xfrm>
            <a:off x="502920" y="365760"/>
            <a:ext cx="11185855" cy="292608"/>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FAILURE &amp; INSIGHT</a:t>
            </a:r>
            <a:endParaRPr lang="en-US" sz="1200" dirty="0"/>
          </a:p>
        </p:txBody>
      </p:sp>
      <p:sp>
        <p:nvSpPr>
          <p:cNvPr id="3" name="Text 1"/>
          <p:cNvSpPr txBox="1"/>
          <p:nvPr/>
        </p:nvSpPr>
        <p:spPr>
          <a:xfrm>
            <a:off x="502920" y="658368"/>
            <a:ext cx="11185855" cy="685800"/>
          </a:xfrm>
          <a:prstGeom prst="rect">
            <a:avLst/>
          </a:prstGeom>
          <a:noFill/>
          <a:ln/>
        </p:spPr>
        <p:txBody>
          <a:bodyPr wrap="square" lIns="0" tIns="0" rIns="0" bIns="0" rtlCol="0" anchor="t"/>
          <a:lstStyle/>
          <a:p>
            <a:pPr indent="0" marL="0">
              <a:lnSpc>
                <a:spcPct val="105000"/>
              </a:lnSpc>
              <a:buNone/>
            </a:pPr>
            <a:r>
              <a:rPr lang="en-US" sz="2400" b="1" dirty="0">
                <a:solidFill>
                  <a:srgbClr val="EAF1F7"/>
                </a:solidFill>
                <a:latin typeface="Calibri" pitchFamily="34" charset="0"/>
                <a:ea typeface="Calibri" pitchFamily="34" charset="-122"/>
                <a:cs typeface="Calibri" pitchFamily="34" charset="-120"/>
              </a:rPr>
              <a:t>Failure Case Analysis: Spectral Peak Diagnosis</a:t>
            </a:r>
            <a:endParaRPr lang="en-US" sz="2400" dirty="0"/>
          </a:p>
        </p:txBody>
      </p:sp>
      <p:sp>
        <p:nvSpPr>
          <p:cNvPr id="4" name="Shape 2"/>
          <p:cNvSpPr/>
          <p:nvPr/>
        </p:nvSpPr>
        <p:spPr>
          <a:xfrm>
            <a:off x="502920" y="1691640"/>
            <a:ext cx="7315200" cy="3794760"/>
          </a:xfrm>
          <a:prstGeom prst="roundRect">
            <a:avLst>
              <a:gd name="adj" fmla="val 3855"/>
            </a:avLst>
          </a:prstGeom>
          <a:solidFill>
            <a:srgbClr val="081420"/>
          </a:solidFill>
          <a:ln w="12700">
            <a:solidFill>
              <a:srgbClr val="1C324D"/>
            </a:solidFill>
            <a:prstDash val="solid"/>
          </a:ln>
        </p:spPr>
      </p:sp>
      <p:pic>
        <p:nvPicPr>
          <p:cNvPr id="5" name="Image 0" descr="C:\Users\tausif\CSE 754\report\figures\dark\fig8_spectrum_diagnosis_subject14.png">    </p:cNvPr>
          <p:cNvPicPr>
            <a:picLocks noChangeAspect="1"/>
          </p:cNvPicPr>
          <p:nvPr/>
        </p:nvPicPr>
        <p:blipFill>
          <a:blip r:embed="rId1"/>
          <a:srcRect l="0" r="0" t="0" b="0"/>
          <a:stretch/>
        </p:blipFill>
        <p:spPr>
          <a:xfrm>
            <a:off x="640080" y="1828800"/>
            <a:ext cx="7040880" cy="3520440"/>
          </a:xfrm>
          <a:prstGeom prst="rect">
            <a:avLst/>
          </a:prstGeom>
        </p:spPr>
      </p:pic>
      <p:sp>
        <p:nvSpPr>
          <p:cNvPr id="6" name="Shape 3"/>
          <p:cNvSpPr/>
          <p:nvPr/>
        </p:nvSpPr>
        <p:spPr>
          <a:xfrm>
            <a:off x="8092440" y="1691640"/>
            <a:ext cx="3596335" cy="1737360"/>
          </a:xfrm>
          <a:prstGeom prst="roundRect">
            <a:avLst>
              <a:gd name="adj" fmla="val 7368"/>
            </a:avLst>
          </a:prstGeom>
          <a:solidFill>
            <a:srgbClr val="2A1418"/>
          </a:solidFill>
          <a:ln/>
        </p:spPr>
      </p:sp>
      <p:sp>
        <p:nvSpPr>
          <p:cNvPr id="7" name="Text 4"/>
          <p:cNvSpPr txBox="1"/>
          <p:nvPr/>
        </p:nvSpPr>
        <p:spPr>
          <a:xfrm>
            <a:off x="8321040" y="1874520"/>
            <a:ext cx="3139135" cy="320040"/>
          </a:xfrm>
          <a:prstGeom prst="rect">
            <a:avLst/>
          </a:prstGeom>
          <a:noFill/>
          <a:ln/>
        </p:spPr>
        <p:txBody>
          <a:bodyPr wrap="square" lIns="0" tIns="0" rIns="0" bIns="0" rtlCol="0" anchor="ctr"/>
          <a:lstStyle/>
          <a:p>
            <a:pPr indent="0" marL="0">
              <a:buNone/>
            </a:pPr>
            <a:r>
              <a:rPr lang="en-US" sz="1200" dirty="0">
                <a:solidFill>
                  <a:srgbClr val="8EA3B8"/>
                </a:solidFill>
                <a:latin typeface="Calibri" pitchFamily="34" charset="0"/>
                <a:ea typeface="Calibri" pitchFamily="34" charset="-122"/>
                <a:cs typeface="Calibri" pitchFamily="34" charset="-120"/>
              </a:rPr>
              <a:t>Model selected</a:t>
            </a:r>
            <a:endParaRPr lang="en-US" sz="1200" dirty="0"/>
          </a:p>
        </p:txBody>
      </p:sp>
      <p:sp>
        <p:nvSpPr>
          <p:cNvPr id="8" name="Text 5"/>
          <p:cNvSpPr txBox="1"/>
          <p:nvPr/>
        </p:nvSpPr>
        <p:spPr>
          <a:xfrm>
            <a:off x="8321040" y="2194560"/>
            <a:ext cx="3139135" cy="731520"/>
          </a:xfrm>
          <a:prstGeom prst="rect">
            <a:avLst/>
          </a:prstGeom>
          <a:noFill/>
          <a:ln/>
        </p:spPr>
        <p:txBody>
          <a:bodyPr wrap="square" lIns="0" tIns="0" rIns="0" bIns="0" rtlCol="0" anchor="ctr"/>
          <a:lstStyle/>
          <a:p>
            <a:pPr indent="0" marL="0">
              <a:buNone/>
            </a:pPr>
            <a:r>
              <a:rPr lang="en-US" sz="2800" b="1" dirty="0">
                <a:solidFill>
                  <a:srgbClr val="F87171"/>
                </a:solidFill>
                <a:latin typeface="Calibri" pitchFamily="34" charset="0"/>
                <a:ea typeface="Calibri" pitchFamily="34" charset="-122"/>
                <a:cs typeface="Calibri" pitchFamily="34" charset="-120"/>
              </a:rPr>
              <a:t>148.1 bpm</a:t>
            </a:r>
            <a:endParaRPr lang="en-US" sz="2800" dirty="0"/>
          </a:p>
        </p:txBody>
      </p:sp>
      <p:sp>
        <p:nvSpPr>
          <p:cNvPr id="9" name="Shape 6"/>
          <p:cNvSpPr/>
          <p:nvPr/>
        </p:nvSpPr>
        <p:spPr>
          <a:xfrm>
            <a:off x="8092440" y="3657600"/>
            <a:ext cx="3596335" cy="1737360"/>
          </a:xfrm>
          <a:prstGeom prst="roundRect">
            <a:avLst>
              <a:gd name="adj" fmla="val 7368"/>
            </a:avLst>
          </a:prstGeom>
          <a:solidFill>
            <a:srgbClr val="0D2A22"/>
          </a:solidFill>
          <a:ln/>
        </p:spPr>
      </p:sp>
      <p:sp>
        <p:nvSpPr>
          <p:cNvPr id="10" name="Text 7"/>
          <p:cNvSpPr txBox="1"/>
          <p:nvPr/>
        </p:nvSpPr>
        <p:spPr>
          <a:xfrm>
            <a:off x="8321040" y="3840480"/>
            <a:ext cx="3139135" cy="457200"/>
          </a:xfrm>
          <a:prstGeom prst="rect">
            <a:avLst/>
          </a:prstGeom>
          <a:noFill/>
          <a:ln/>
        </p:spPr>
        <p:txBody>
          <a:bodyPr wrap="square" lIns="0" tIns="0" rIns="0" bIns="0" rtlCol="0" anchor="ctr"/>
          <a:lstStyle/>
          <a:p>
            <a:pPr indent="0" marL="0">
              <a:buNone/>
            </a:pPr>
            <a:r>
              <a:rPr lang="en-US" sz="1200" dirty="0">
                <a:solidFill>
                  <a:srgbClr val="8EA3B8"/>
                </a:solidFill>
                <a:latin typeface="Calibri" pitchFamily="34" charset="0"/>
                <a:ea typeface="Calibri" pitchFamily="34" charset="-122"/>
                <a:cs typeface="Calibri" pitchFamily="34" charset="-120"/>
              </a:rPr>
              <a:t>True HR, 71% of peak power</a:t>
            </a:r>
            <a:endParaRPr lang="en-US" sz="1200" dirty="0"/>
          </a:p>
        </p:txBody>
      </p:sp>
      <p:sp>
        <p:nvSpPr>
          <p:cNvPr id="11" name="Text 8"/>
          <p:cNvSpPr txBox="1"/>
          <p:nvPr/>
        </p:nvSpPr>
        <p:spPr>
          <a:xfrm>
            <a:off x="8321040" y="4251960"/>
            <a:ext cx="3139135" cy="731520"/>
          </a:xfrm>
          <a:prstGeom prst="rect">
            <a:avLst/>
          </a:prstGeom>
          <a:noFill/>
          <a:ln/>
        </p:spPr>
        <p:txBody>
          <a:bodyPr wrap="square" lIns="0" tIns="0" rIns="0" bIns="0" rtlCol="0" anchor="ctr"/>
          <a:lstStyle/>
          <a:p>
            <a:pPr indent="0" marL="0">
              <a:buNone/>
            </a:pPr>
            <a:r>
              <a:rPr lang="en-US" sz="2800" b="1" dirty="0">
                <a:solidFill>
                  <a:srgbClr val="2DD4BF"/>
                </a:solidFill>
                <a:latin typeface="Calibri" pitchFamily="34" charset="0"/>
                <a:ea typeface="Calibri" pitchFamily="34" charset="-122"/>
                <a:cs typeface="Calibri" pitchFamily="34" charset="-120"/>
              </a:rPr>
              <a:t>75.7 bpm</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1420"/>
        </a:solidFill>
      </p:bgPr>
    </p:bg>
    <p:spTree>
      <p:nvGrpSpPr>
        <p:cNvPr id="1" name=""/>
        <p:cNvGrpSpPr/>
        <p:nvPr/>
      </p:nvGrpSpPr>
      <p:grpSpPr>
        <a:xfrm>
          <a:off x="0" y="0"/>
          <a:ext cx="0" cy="0"/>
          <a:chOff x="0" y="0"/>
          <a:chExt cx="0" cy="0"/>
        </a:xfrm>
      </p:grpSpPr>
      <p:sp>
        <p:nvSpPr>
          <p:cNvPr id="2" name="Text 0"/>
          <p:cNvSpPr txBox="1"/>
          <p:nvPr/>
        </p:nvSpPr>
        <p:spPr>
          <a:xfrm>
            <a:off x="502920" y="365760"/>
            <a:ext cx="11185855" cy="292608"/>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FAILURE &amp; INSIGHT</a:t>
            </a:r>
            <a:endParaRPr lang="en-US" sz="1200" dirty="0"/>
          </a:p>
        </p:txBody>
      </p:sp>
      <p:sp>
        <p:nvSpPr>
          <p:cNvPr id="3" name="Text 1"/>
          <p:cNvSpPr txBox="1"/>
          <p:nvPr/>
        </p:nvSpPr>
        <p:spPr>
          <a:xfrm>
            <a:off x="502920" y="658368"/>
            <a:ext cx="11185855" cy="822960"/>
          </a:xfrm>
          <a:prstGeom prst="rect">
            <a:avLst/>
          </a:prstGeom>
          <a:noFill/>
          <a:ln/>
        </p:spPr>
        <p:txBody>
          <a:bodyPr wrap="square" lIns="0" tIns="0" rIns="0" bIns="0" rtlCol="0" anchor="t"/>
          <a:lstStyle/>
          <a:p>
            <a:pPr indent="0" marL="0">
              <a:lnSpc>
                <a:spcPct val="105000"/>
              </a:lnSpc>
              <a:buNone/>
            </a:pPr>
            <a:r>
              <a:rPr lang="en-US" sz="2500" b="1" dirty="0">
                <a:solidFill>
                  <a:srgbClr val="EAF1F7"/>
                </a:solidFill>
                <a:latin typeface="Calibri" pitchFamily="34" charset="0"/>
                <a:ea typeface="Calibri" pitchFamily="34" charset="-122"/>
                <a:cs typeface="Calibri" pitchFamily="34" charset="-120"/>
              </a:rPr>
              <a:t>Mitigation Testing: A Rejected Candidate Fix</a:t>
            </a:r>
            <a:endParaRPr lang="en-US" sz="2500" dirty="0"/>
          </a:p>
        </p:txBody>
      </p:sp>
      <p:sp>
        <p:nvSpPr>
          <p:cNvPr id="4" name="Shape 2"/>
          <p:cNvSpPr/>
          <p:nvPr/>
        </p:nvSpPr>
        <p:spPr>
          <a:xfrm>
            <a:off x="502920" y="1783080"/>
            <a:ext cx="6309360" cy="3749040"/>
          </a:xfrm>
          <a:prstGeom prst="roundRect">
            <a:avLst>
              <a:gd name="adj" fmla="val 3902"/>
            </a:avLst>
          </a:prstGeom>
          <a:solidFill>
            <a:srgbClr val="081420"/>
          </a:solidFill>
          <a:ln w="12700">
            <a:solidFill>
              <a:srgbClr val="1C324D"/>
            </a:solidFill>
            <a:prstDash val="solid"/>
          </a:ln>
        </p:spPr>
      </p:sp>
      <p:pic>
        <p:nvPicPr>
          <p:cNvPr id="5" name="Image 0" descr="C:\Users\tausif\CSE 754\report\figures\dark\fig7_mitigation_before_after.png">    </p:cNvPr>
          <p:cNvPicPr>
            <a:picLocks noChangeAspect="1"/>
          </p:cNvPicPr>
          <p:nvPr/>
        </p:nvPicPr>
        <p:blipFill>
          <a:blip r:embed="rId1"/>
          <a:srcRect l="0" r="0" t="0" b="0"/>
          <a:stretch/>
        </p:blipFill>
        <p:spPr>
          <a:xfrm>
            <a:off x="640080" y="1920240"/>
            <a:ext cx="6035040" cy="3474720"/>
          </a:xfrm>
          <a:prstGeom prst="rect">
            <a:avLst/>
          </a:prstGeom>
        </p:spPr>
      </p:pic>
      <p:sp>
        <p:nvSpPr>
          <p:cNvPr id="6" name="Text 3"/>
          <p:cNvSpPr txBox="1"/>
          <p:nvPr/>
        </p:nvSpPr>
        <p:spPr>
          <a:xfrm>
            <a:off x="7360920" y="1828800"/>
            <a:ext cx="4327855" cy="1051560"/>
          </a:xfrm>
          <a:prstGeom prst="rect">
            <a:avLst/>
          </a:prstGeom>
          <a:noFill/>
          <a:ln/>
        </p:spPr>
        <p:txBody>
          <a:bodyPr wrap="square" lIns="0" tIns="0" rIns="0" bIns="0" rtlCol="0" anchor="ctr"/>
          <a:lstStyle/>
          <a:p>
            <a:pPr indent="0" marL="0">
              <a:lnSpc>
                <a:spcPct val="135000"/>
              </a:lnSpc>
              <a:buNone/>
            </a:pPr>
            <a:r>
              <a:rPr lang="en-US" sz="1400" dirty="0">
                <a:solidFill>
                  <a:srgbClr val="EAF1F7"/>
                </a:solidFill>
                <a:latin typeface="Calibri" pitchFamily="34" charset="0"/>
                <a:ea typeface="Calibri" pitchFamily="34" charset="-122"/>
                <a:cs typeface="Calibri" pitchFamily="34" charset="-120"/>
              </a:rPr>
              <a:t>Candidate fix: prefer the lower of two closely competing spectral peaks. Tested on all 16 subjects, not just the one that motivated it.</a:t>
            </a:r>
            <a:endParaRPr lang="en-US" sz="1400" dirty="0"/>
          </a:p>
        </p:txBody>
      </p:sp>
      <p:sp>
        <p:nvSpPr>
          <p:cNvPr id="7" name="Shape 4"/>
          <p:cNvSpPr/>
          <p:nvPr/>
        </p:nvSpPr>
        <p:spPr>
          <a:xfrm>
            <a:off x="7360920" y="2971800"/>
            <a:ext cx="4327855" cy="960120"/>
          </a:xfrm>
          <a:prstGeom prst="roundRect">
            <a:avLst>
              <a:gd name="adj" fmla="val 11429"/>
            </a:avLst>
          </a:prstGeom>
          <a:solidFill>
            <a:srgbClr val="2A1418"/>
          </a:solidFill>
          <a:ln/>
        </p:spPr>
      </p:sp>
      <p:sp>
        <p:nvSpPr>
          <p:cNvPr id="8" name="Text 5"/>
          <p:cNvSpPr txBox="1"/>
          <p:nvPr/>
        </p:nvSpPr>
        <p:spPr>
          <a:xfrm>
            <a:off x="7562088" y="2971800"/>
            <a:ext cx="3925519" cy="960120"/>
          </a:xfrm>
          <a:prstGeom prst="rect">
            <a:avLst/>
          </a:prstGeom>
          <a:noFill/>
          <a:ln/>
        </p:spPr>
        <p:txBody>
          <a:bodyPr wrap="square" lIns="0" tIns="0" rIns="0" bIns="0" rtlCol="0" anchor="ctr"/>
          <a:lstStyle/>
          <a:p>
            <a:pPr indent="0" marL="0">
              <a:lnSpc>
                <a:spcPct val="125000"/>
              </a:lnSpc>
              <a:buNone/>
            </a:pPr>
            <a:r>
              <a:rPr lang="en-US" sz="1250" dirty="0">
                <a:solidFill>
                  <a:srgbClr val="EAF1F7"/>
                </a:solidFill>
                <a:latin typeface="Calibri" pitchFamily="34" charset="0"/>
                <a:ea typeface="Calibri" pitchFamily="34" charset="-122"/>
                <a:cs typeface="Calibri" pitchFamily="34" charset="-120"/>
              </a:rPr>
              <a:t>Corrected one clip (72 → 4 bpm error), degraded seven others, one severely (0.4 → 31 bpm).</a:t>
            </a:r>
            <a:endParaRPr lang="en-US" sz="1250" dirty="0"/>
          </a:p>
        </p:txBody>
      </p:sp>
      <p:sp>
        <p:nvSpPr>
          <p:cNvPr id="9" name="Text 6"/>
          <p:cNvSpPr txBox="1"/>
          <p:nvPr/>
        </p:nvSpPr>
        <p:spPr>
          <a:xfrm>
            <a:off x="7360920" y="4114800"/>
            <a:ext cx="4327855" cy="457200"/>
          </a:xfrm>
          <a:prstGeom prst="rect">
            <a:avLst/>
          </a:prstGeom>
          <a:noFill/>
          <a:ln/>
        </p:spPr>
        <p:txBody>
          <a:bodyPr wrap="square" lIns="0" tIns="0" rIns="0" bIns="0" rtlCol="0" anchor="ctr"/>
          <a:lstStyle/>
          <a:p>
            <a:pPr indent="0" marL="0">
              <a:buNone/>
            </a:pPr>
            <a:r>
              <a:rPr lang="en-US" sz="1600" b="1" dirty="0">
                <a:solidFill>
                  <a:srgbClr val="EAF1F7"/>
                </a:solidFill>
                <a:latin typeface="Calibri" pitchFamily="34" charset="0"/>
                <a:ea typeface="Calibri" pitchFamily="34" charset="-122"/>
                <a:cs typeface="Calibri" pitchFamily="34" charset="-120"/>
              </a:rPr>
              <a:t>Net effect: no improvement. Not adopted.</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1420"/>
        </a:solidFill>
      </p:bgPr>
    </p:bg>
    <p:spTree>
      <p:nvGrpSpPr>
        <p:cNvPr id="1" name=""/>
        <p:cNvGrpSpPr/>
        <p:nvPr/>
      </p:nvGrpSpPr>
      <p:grpSpPr>
        <a:xfrm>
          <a:off x="0" y="0"/>
          <a:ext cx="0" cy="0"/>
          <a:chOff x="0" y="0"/>
          <a:chExt cx="0" cy="0"/>
        </a:xfrm>
      </p:grpSpPr>
      <p:sp>
        <p:nvSpPr>
          <p:cNvPr id="2" name="Text 0"/>
          <p:cNvSpPr txBox="1"/>
          <p:nvPr/>
        </p:nvSpPr>
        <p:spPr>
          <a:xfrm>
            <a:off x="502920" y="365760"/>
            <a:ext cx="11185855" cy="292608"/>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05 · CONCLUDING REMARKS</a:t>
            </a:r>
            <a:endParaRPr lang="en-US" sz="1200" dirty="0"/>
          </a:p>
        </p:txBody>
      </p:sp>
      <p:sp>
        <p:nvSpPr>
          <p:cNvPr id="3" name="Text 1"/>
          <p:cNvSpPr txBox="1"/>
          <p:nvPr/>
        </p:nvSpPr>
        <p:spPr>
          <a:xfrm>
            <a:off x="502920" y="658368"/>
            <a:ext cx="11185855" cy="822960"/>
          </a:xfrm>
          <a:prstGeom prst="rect">
            <a:avLst/>
          </a:prstGeom>
          <a:noFill/>
          <a:ln/>
        </p:spPr>
        <p:txBody>
          <a:bodyPr wrap="square" lIns="0" tIns="0" rIns="0" bIns="0" rtlCol="0" anchor="t"/>
          <a:lstStyle/>
          <a:p>
            <a:pPr indent="0" marL="0">
              <a:lnSpc>
                <a:spcPct val="105000"/>
              </a:lnSpc>
              <a:buNone/>
            </a:pPr>
            <a:r>
              <a:rPr lang="en-US" sz="2700" b="1" dirty="0">
                <a:solidFill>
                  <a:srgbClr val="EAF1F7"/>
                </a:solidFill>
                <a:latin typeface="Calibri" pitchFamily="34" charset="0"/>
                <a:ea typeface="Calibri" pitchFamily="34" charset="-122"/>
                <a:cs typeface="Calibri" pitchFamily="34" charset="-120"/>
              </a:rPr>
              <a:t>Summary of Contributions</a:t>
            </a:r>
            <a:endParaRPr lang="en-US" sz="2700" dirty="0"/>
          </a:p>
        </p:txBody>
      </p:sp>
      <p:sp>
        <p:nvSpPr>
          <p:cNvPr id="4" name="Shape 2"/>
          <p:cNvSpPr/>
          <p:nvPr/>
        </p:nvSpPr>
        <p:spPr>
          <a:xfrm>
            <a:off x="822960" y="2798064"/>
            <a:ext cx="10545775" cy="0"/>
          </a:xfrm>
          <a:prstGeom prst="line">
            <a:avLst/>
          </a:prstGeom>
          <a:noFill/>
          <a:ln w="19050">
            <a:solidFill>
              <a:srgbClr val="38BDF8"/>
            </a:solidFill>
            <a:prstDash val="solid"/>
          </a:ln>
        </p:spPr>
      </p:sp>
      <p:sp>
        <p:nvSpPr>
          <p:cNvPr id="5" name="Shape 3"/>
          <p:cNvSpPr/>
          <p:nvPr/>
        </p:nvSpPr>
        <p:spPr>
          <a:xfrm>
            <a:off x="1544536" y="1828800"/>
            <a:ext cx="713232" cy="713232"/>
          </a:xfrm>
          <a:prstGeom prst="ellipse">
            <a:avLst/>
          </a:prstGeom>
          <a:solidFill>
            <a:srgbClr val="0D1E30"/>
          </a:solidFill>
          <a:ln w="19050">
            <a:solidFill>
              <a:srgbClr val="38BDF8"/>
            </a:solidFill>
            <a:prstDash val="solid"/>
          </a:ln>
        </p:spPr>
      </p:sp>
      <p:pic>
        <p:nvPicPr>
          <p:cNvPr id="6" name="Image 0" descr="C:\Users\tausif\CSE 754\pptx_work\assets\Verified_38BDF8.png">    </p:cNvPr>
          <p:cNvPicPr>
            <a:picLocks noChangeAspect="1"/>
          </p:cNvPicPr>
          <p:nvPr/>
        </p:nvPicPr>
        <p:blipFill>
          <a:blip r:embed="rId1"/>
          <a:stretch>
            <a:fillRect/>
          </a:stretch>
        </p:blipFill>
        <p:spPr>
          <a:xfrm>
            <a:off x="1737109" y="2021373"/>
            <a:ext cx="328087" cy="328087"/>
          </a:xfrm>
          <a:prstGeom prst="rect">
            <a:avLst/>
          </a:prstGeom>
        </p:spPr>
      </p:pic>
      <p:sp>
        <p:nvSpPr>
          <p:cNvPr id="7" name="Text 4"/>
          <p:cNvSpPr txBox="1"/>
          <p:nvPr/>
        </p:nvSpPr>
        <p:spPr>
          <a:xfrm>
            <a:off x="594360" y="2907792"/>
            <a:ext cx="2613584" cy="365760"/>
          </a:xfrm>
          <a:prstGeom prst="rect">
            <a:avLst/>
          </a:prstGeom>
          <a:noFill/>
          <a:ln/>
        </p:spPr>
        <p:txBody>
          <a:bodyPr wrap="square" lIns="0" tIns="0" rIns="0" bIns="0" rtlCol="0" anchor="ctr"/>
          <a:lstStyle/>
          <a:p>
            <a:pPr algn="ctr" indent="0" marL="0">
              <a:buNone/>
            </a:pPr>
            <a:r>
              <a:rPr lang="en-US" sz="1400" b="1" dirty="0">
                <a:solidFill>
                  <a:srgbClr val="EAF1F7"/>
                </a:solidFill>
                <a:latin typeface="Calibri" pitchFamily="34" charset="0"/>
                <a:ea typeface="Calibri" pitchFamily="34" charset="-122"/>
                <a:cs typeface="Calibri" pitchFamily="34" charset="-120"/>
              </a:rPr>
              <a:t>A Validated Pipeline</a:t>
            </a:r>
            <a:endParaRPr lang="en-US" sz="1400" dirty="0"/>
          </a:p>
        </p:txBody>
      </p:sp>
      <p:sp>
        <p:nvSpPr>
          <p:cNvPr id="8" name="Text 5"/>
          <p:cNvSpPr txBox="1"/>
          <p:nvPr/>
        </p:nvSpPr>
        <p:spPr>
          <a:xfrm>
            <a:off x="612648" y="3291840"/>
            <a:ext cx="2577008" cy="777240"/>
          </a:xfrm>
          <a:prstGeom prst="rect">
            <a:avLst/>
          </a:prstGeom>
          <a:noFill/>
          <a:ln/>
        </p:spPr>
        <p:txBody>
          <a:bodyPr wrap="square" lIns="0" tIns="0" rIns="0" bIns="0" rtlCol="0" anchor="ctr"/>
          <a:lstStyle/>
          <a:p>
            <a:pPr algn="ctr" indent="0" marL="0">
              <a:lnSpc>
                <a:spcPct val="125000"/>
              </a:lnSpc>
              <a:buNone/>
            </a:pPr>
            <a:r>
              <a:rPr lang="en-US" sz="1050" dirty="0">
                <a:solidFill>
                  <a:srgbClr val="8EA3B8"/>
                </a:solidFill>
                <a:latin typeface="Calibri" pitchFamily="34" charset="0"/>
                <a:ea typeface="Calibri" pitchFamily="34" charset="-122"/>
                <a:cs typeface="Calibri" pitchFamily="34" charset="-120"/>
              </a:rPr>
              <a:t>Four baselines reproduced to within 1.5 bpm of published accuracy.</a:t>
            </a:r>
            <a:endParaRPr lang="en-US" sz="1050" dirty="0"/>
          </a:p>
        </p:txBody>
      </p:sp>
      <p:sp>
        <p:nvSpPr>
          <p:cNvPr id="9" name="Shape 6"/>
          <p:cNvSpPr/>
          <p:nvPr/>
        </p:nvSpPr>
        <p:spPr>
          <a:xfrm>
            <a:off x="795528" y="4005072"/>
            <a:ext cx="2211248" cy="274320"/>
          </a:xfrm>
          <a:prstGeom prst="roundRect">
            <a:avLst>
              <a:gd name="adj" fmla="val 26667"/>
            </a:avLst>
          </a:prstGeom>
          <a:solidFill>
            <a:srgbClr val="12314E"/>
          </a:solidFill>
          <a:ln/>
        </p:spPr>
      </p:sp>
      <p:sp>
        <p:nvSpPr>
          <p:cNvPr id="10" name="Text 7"/>
          <p:cNvSpPr txBox="1"/>
          <p:nvPr/>
        </p:nvSpPr>
        <p:spPr>
          <a:xfrm>
            <a:off x="795528" y="4005072"/>
            <a:ext cx="2211248" cy="274320"/>
          </a:xfrm>
          <a:prstGeom prst="rect">
            <a:avLst/>
          </a:prstGeom>
          <a:noFill/>
          <a:ln/>
        </p:spPr>
        <p:txBody>
          <a:bodyPr wrap="square" lIns="0" tIns="0" rIns="0" bIns="0" rtlCol="0" anchor="ctr"/>
          <a:lstStyle/>
          <a:p>
            <a:pPr algn="ctr" indent="0" marL="0">
              <a:buNone/>
            </a:pPr>
            <a:r>
              <a:rPr lang="en-US" sz="900" b="1" dirty="0">
                <a:solidFill>
                  <a:srgbClr val="38BDF8"/>
                </a:solidFill>
                <a:latin typeface="Calibri" pitchFamily="34" charset="0"/>
                <a:ea typeface="Calibri" pitchFamily="34" charset="-122"/>
                <a:cs typeface="Calibri" pitchFamily="34" charset="-120"/>
              </a:rPr>
              <a:t>CHROM · POS · PhysNet ×2</a:t>
            </a:r>
            <a:endParaRPr lang="en-US" sz="900" dirty="0"/>
          </a:p>
        </p:txBody>
      </p:sp>
      <p:sp>
        <p:nvSpPr>
          <p:cNvPr id="11" name="Shape 8"/>
          <p:cNvSpPr/>
          <p:nvPr/>
        </p:nvSpPr>
        <p:spPr>
          <a:xfrm>
            <a:off x="4341000" y="1828800"/>
            <a:ext cx="713232" cy="713232"/>
          </a:xfrm>
          <a:prstGeom prst="ellipse">
            <a:avLst/>
          </a:prstGeom>
          <a:solidFill>
            <a:srgbClr val="0D1E30"/>
          </a:solidFill>
          <a:ln w="19050">
            <a:solidFill>
              <a:srgbClr val="2DD4BF"/>
            </a:solidFill>
            <a:prstDash val="solid"/>
          </a:ln>
        </p:spPr>
      </p:sp>
      <p:pic>
        <p:nvPicPr>
          <p:cNvPr id="12" name="Image 1" descr="C:\Users\tausif\CSE 754\pptx_work\assets\Wrench_2DD4BF.png">    </p:cNvPr>
          <p:cNvPicPr>
            <a:picLocks noChangeAspect="1"/>
          </p:cNvPicPr>
          <p:nvPr/>
        </p:nvPicPr>
        <p:blipFill>
          <a:blip r:embed="rId2"/>
          <a:stretch>
            <a:fillRect/>
          </a:stretch>
        </p:blipFill>
        <p:spPr>
          <a:xfrm>
            <a:off x="4533572" y="2021373"/>
            <a:ext cx="328087" cy="328087"/>
          </a:xfrm>
          <a:prstGeom prst="rect">
            <a:avLst/>
          </a:prstGeom>
        </p:spPr>
      </p:pic>
      <p:sp>
        <p:nvSpPr>
          <p:cNvPr id="13" name="Text 9"/>
          <p:cNvSpPr txBox="1"/>
          <p:nvPr/>
        </p:nvSpPr>
        <p:spPr>
          <a:xfrm>
            <a:off x="3390824" y="2907792"/>
            <a:ext cx="2613584" cy="365760"/>
          </a:xfrm>
          <a:prstGeom prst="rect">
            <a:avLst/>
          </a:prstGeom>
          <a:noFill/>
          <a:ln/>
        </p:spPr>
        <p:txBody>
          <a:bodyPr wrap="square" lIns="0" tIns="0" rIns="0" bIns="0" rtlCol="0" anchor="ctr"/>
          <a:lstStyle/>
          <a:p>
            <a:pPr algn="ctr" indent="0" marL="0">
              <a:buNone/>
            </a:pPr>
            <a:r>
              <a:rPr lang="en-US" sz="1400" b="1" dirty="0">
                <a:solidFill>
                  <a:srgbClr val="EAF1F7"/>
                </a:solidFill>
                <a:latin typeface="Calibri" pitchFamily="34" charset="0"/>
                <a:ea typeface="Calibri" pitchFamily="34" charset="-122"/>
                <a:cs typeface="Calibri" pitchFamily="34" charset="-120"/>
              </a:rPr>
              <a:t>Three Real Defects, Fixed</a:t>
            </a:r>
            <a:endParaRPr lang="en-US" sz="1400" dirty="0"/>
          </a:p>
        </p:txBody>
      </p:sp>
      <p:sp>
        <p:nvSpPr>
          <p:cNvPr id="14" name="Text 10"/>
          <p:cNvSpPr txBox="1"/>
          <p:nvPr/>
        </p:nvSpPr>
        <p:spPr>
          <a:xfrm>
            <a:off x="3409112" y="3291840"/>
            <a:ext cx="2577008" cy="777240"/>
          </a:xfrm>
          <a:prstGeom prst="rect">
            <a:avLst/>
          </a:prstGeom>
          <a:noFill/>
          <a:ln/>
        </p:spPr>
        <p:txBody>
          <a:bodyPr wrap="square" lIns="0" tIns="0" rIns="0" bIns="0" rtlCol="0" anchor="ctr"/>
          <a:lstStyle/>
          <a:p>
            <a:pPr algn="ctr" indent="0" marL="0">
              <a:lnSpc>
                <a:spcPct val="125000"/>
              </a:lnSpc>
              <a:buNone/>
            </a:pPr>
            <a:r>
              <a:rPr lang="en-US" sz="1050" dirty="0">
                <a:solidFill>
                  <a:srgbClr val="8EA3B8"/>
                </a:solidFill>
                <a:latin typeface="Calibri" pitchFamily="34" charset="0"/>
                <a:ea typeface="Calibri" pitchFamily="34" charset="-122"/>
                <a:cs typeface="Calibri" pitchFamily="34" charset="-120"/>
              </a:rPr>
              <a:t>Each one alone was large enough to fake a fairness result.</a:t>
            </a:r>
            <a:endParaRPr lang="en-US" sz="1050" dirty="0"/>
          </a:p>
        </p:txBody>
      </p:sp>
      <p:sp>
        <p:nvSpPr>
          <p:cNvPr id="15" name="Shape 11"/>
          <p:cNvSpPr/>
          <p:nvPr/>
        </p:nvSpPr>
        <p:spPr>
          <a:xfrm>
            <a:off x="3591992" y="4005072"/>
            <a:ext cx="2211248" cy="274320"/>
          </a:xfrm>
          <a:prstGeom prst="roundRect">
            <a:avLst>
              <a:gd name="adj" fmla="val 26667"/>
            </a:avLst>
          </a:prstGeom>
          <a:solidFill>
            <a:srgbClr val="0D2A22"/>
          </a:solidFill>
          <a:ln/>
        </p:spPr>
      </p:sp>
      <p:sp>
        <p:nvSpPr>
          <p:cNvPr id="16" name="Text 12"/>
          <p:cNvSpPr txBox="1"/>
          <p:nvPr/>
        </p:nvSpPr>
        <p:spPr>
          <a:xfrm>
            <a:off x="3591992" y="4005072"/>
            <a:ext cx="2211248" cy="274320"/>
          </a:xfrm>
          <a:prstGeom prst="rect">
            <a:avLst/>
          </a:prstGeom>
          <a:noFill/>
          <a:ln/>
        </p:spPr>
        <p:txBody>
          <a:bodyPr wrap="square" lIns="0" tIns="0" rIns="0" bIns="0" rtlCol="0" anchor="ctr"/>
          <a:lstStyle/>
          <a:p>
            <a:pPr algn="ctr" indent="0" marL="0">
              <a:buNone/>
            </a:pPr>
            <a:r>
              <a:rPr lang="en-US" sz="900" b="1" dirty="0">
                <a:solidFill>
                  <a:srgbClr val="2DD4BF"/>
                </a:solidFill>
                <a:latin typeface="Calibri" pitchFamily="34" charset="0"/>
                <a:ea typeface="Calibri" pitchFamily="34" charset="-122"/>
                <a:cs typeface="Calibri" pitchFamily="34" charset="-120"/>
              </a:rPr>
              <a:t>Chrominance · Inference · Detection</a:t>
            </a:r>
            <a:endParaRPr lang="en-US" sz="900" dirty="0"/>
          </a:p>
        </p:txBody>
      </p:sp>
      <p:sp>
        <p:nvSpPr>
          <p:cNvPr id="17" name="Shape 13"/>
          <p:cNvSpPr/>
          <p:nvPr/>
        </p:nvSpPr>
        <p:spPr>
          <a:xfrm>
            <a:off x="7137464" y="1828800"/>
            <a:ext cx="713232" cy="713232"/>
          </a:xfrm>
          <a:prstGeom prst="ellipse">
            <a:avLst/>
          </a:prstGeom>
          <a:solidFill>
            <a:srgbClr val="0D1E30"/>
          </a:solidFill>
          <a:ln w="19050">
            <a:solidFill>
              <a:srgbClr val="FBBF24"/>
            </a:solidFill>
            <a:prstDash val="solid"/>
          </a:ln>
        </p:spPr>
      </p:sp>
      <p:pic>
        <p:nvPicPr>
          <p:cNvPr id="18" name="Image 2" descr="C:\Users\tausif\CSE 754\pptx_work\assets\Activity_FBBF24.png">    </p:cNvPr>
          <p:cNvPicPr>
            <a:picLocks noChangeAspect="1"/>
          </p:cNvPicPr>
          <p:nvPr/>
        </p:nvPicPr>
        <p:blipFill>
          <a:blip r:embed="rId3"/>
          <a:stretch>
            <a:fillRect/>
          </a:stretch>
        </p:blipFill>
        <p:spPr>
          <a:xfrm>
            <a:off x="7330036" y="2021373"/>
            <a:ext cx="328087" cy="328087"/>
          </a:xfrm>
          <a:prstGeom prst="rect">
            <a:avLst/>
          </a:prstGeom>
        </p:spPr>
      </p:pic>
      <p:sp>
        <p:nvSpPr>
          <p:cNvPr id="19" name="Text 14"/>
          <p:cNvSpPr txBox="1"/>
          <p:nvPr/>
        </p:nvSpPr>
        <p:spPr>
          <a:xfrm>
            <a:off x="6187288" y="2907792"/>
            <a:ext cx="2613584" cy="365760"/>
          </a:xfrm>
          <a:prstGeom prst="rect">
            <a:avLst/>
          </a:prstGeom>
          <a:noFill/>
          <a:ln/>
        </p:spPr>
        <p:txBody>
          <a:bodyPr wrap="square" lIns="0" tIns="0" rIns="0" bIns="0" rtlCol="0" anchor="ctr"/>
          <a:lstStyle/>
          <a:p>
            <a:pPr algn="ctr" indent="0" marL="0">
              <a:buNone/>
            </a:pPr>
            <a:r>
              <a:rPr lang="en-US" sz="1400" b="1" dirty="0">
                <a:solidFill>
                  <a:srgbClr val="EAF1F7"/>
                </a:solidFill>
                <a:latin typeface="Calibri" pitchFamily="34" charset="0"/>
                <a:ea typeface="Calibri" pitchFamily="34" charset="-122"/>
                <a:cs typeface="Calibri" pitchFamily="34" charset="-120"/>
              </a:rPr>
              <a:t>An Honest Robustness Gap</a:t>
            </a:r>
            <a:endParaRPr lang="en-US" sz="1400" dirty="0"/>
          </a:p>
        </p:txBody>
      </p:sp>
      <p:sp>
        <p:nvSpPr>
          <p:cNvPr id="20" name="Text 15"/>
          <p:cNvSpPr txBox="1"/>
          <p:nvPr/>
        </p:nvSpPr>
        <p:spPr>
          <a:xfrm>
            <a:off x="6205576" y="3291840"/>
            <a:ext cx="2577008" cy="777240"/>
          </a:xfrm>
          <a:prstGeom prst="rect">
            <a:avLst/>
          </a:prstGeom>
          <a:noFill/>
          <a:ln/>
        </p:spPr>
        <p:txBody>
          <a:bodyPr wrap="square" lIns="0" tIns="0" rIns="0" bIns="0" rtlCol="0" anchor="ctr"/>
          <a:lstStyle/>
          <a:p>
            <a:pPr algn="ctr" indent="0" marL="0">
              <a:lnSpc>
                <a:spcPct val="125000"/>
              </a:lnSpc>
              <a:buNone/>
            </a:pPr>
            <a:r>
              <a:rPr lang="en-US" sz="1050" dirty="0">
                <a:solidFill>
                  <a:srgbClr val="8EA3B8"/>
                </a:solidFill>
                <a:latin typeface="Calibri" pitchFamily="34" charset="0"/>
                <a:ea typeface="Calibri" pitchFamily="34" charset="-122"/>
                <a:cs typeface="Calibri" pitchFamily="34" charset="-120"/>
              </a:rPr>
              <a:t>Measured across resting and post-exercise conditions, not assumed.</a:t>
            </a:r>
            <a:endParaRPr lang="en-US" sz="1050" dirty="0"/>
          </a:p>
        </p:txBody>
      </p:sp>
      <p:sp>
        <p:nvSpPr>
          <p:cNvPr id="21" name="Shape 16"/>
          <p:cNvSpPr/>
          <p:nvPr/>
        </p:nvSpPr>
        <p:spPr>
          <a:xfrm>
            <a:off x="6388456" y="4005072"/>
            <a:ext cx="2211248" cy="274320"/>
          </a:xfrm>
          <a:prstGeom prst="roundRect">
            <a:avLst>
              <a:gd name="adj" fmla="val 26667"/>
            </a:avLst>
          </a:prstGeom>
          <a:solidFill>
            <a:srgbClr val="2E2410"/>
          </a:solidFill>
          <a:ln/>
        </p:spPr>
      </p:sp>
      <p:sp>
        <p:nvSpPr>
          <p:cNvPr id="22" name="Text 17"/>
          <p:cNvSpPr txBox="1"/>
          <p:nvPr/>
        </p:nvSpPr>
        <p:spPr>
          <a:xfrm>
            <a:off x="6388456" y="4005072"/>
            <a:ext cx="2211248" cy="274320"/>
          </a:xfrm>
          <a:prstGeom prst="rect">
            <a:avLst/>
          </a:prstGeom>
          <a:noFill/>
          <a:ln/>
        </p:spPr>
        <p:txBody>
          <a:bodyPr wrap="square" lIns="0" tIns="0" rIns="0" bIns="0" rtlCol="0" anchor="ctr"/>
          <a:lstStyle/>
          <a:p>
            <a:pPr algn="ctr" indent="0" marL="0">
              <a:buNone/>
            </a:pPr>
            <a:r>
              <a:rPr lang="en-US" sz="900" b="1" dirty="0">
                <a:solidFill>
                  <a:srgbClr val="FBBF24"/>
                </a:solidFill>
                <a:latin typeface="Calibri" pitchFamily="34" charset="0"/>
                <a:ea typeface="Calibri" pitchFamily="34" charset="-122"/>
                <a:cs typeface="Calibri" pitchFamily="34" charset="-120"/>
              </a:rPr>
              <a:t>2.9–6.6 bpm classical gap</a:t>
            </a:r>
            <a:endParaRPr lang="en-US" sz="900" dirty="0"/>
          </a:p>
        </p:txBody>
      </p:sp>
      <p:sp>
        <p:nvSpPr>
          <p:cNvPr id="23" name="Shape 18"/>
          <p:cNvSpPr/>
          <p:nvPr/>
        </p:nvSpPr>
        <p:spPr>
          <a:xfrm>
            <a:off x="9933927" y="1828800"/>
            <a:ext cx="713232" cy="713232"/>
          </a:xfrm>
          <a:prstGeom prst="ellipse">
            <a:avLst/>
          </a:prstGeom>
          <a:solidFill>
            <a:srgbClr val="0D1E30"/>
          </a:solidFill>
          <a:ln w="19050">
            <a:solidFill>
              <a:srgbClr val="F472B6"/>
            </a:solidFill>
            <a:prstDash val="solid"/>
          </a:ln>
        </p:spPr>
      </p:sp>
      <p:pic>
        <p:nvPicPr>
          <p:cNvPr id="24" name="Image 3" descr="C:\Users\tausif\CSE 754\pptx_work\assets\Chat_F472B6.png">    </p:cNvPr>
          <p:cNvPicPr>
            <a:picLocks noChangeAspect="1"/>
          </p:cNvPicPr>
          <p:nvPr/>
        </p:nvPicPr>
        <p:blipFill>
          <a:blip r:embed="rId4"/>
          <a:stretch>
            <a:fillRect/>
          </a:stretch>
        </p:blipFill>
        <p:spPr>
          <a:xfrm>
            <a:off x="10126500" y="2021373"/>
            <a:ext cx="328087" cy="328087"/>
          </a:xfrm>
          <a:prstGeom prst="rect">
            <a:avLst/>
          </a:prstGeom>
        </p:spPr>
      </p:pic>
      <p:sp>
        <p:nvSpPr>
          <p:cNvPr id="25" name="Text 19"/>
          <p:cNvSpPr txBox="1"/>
          <p:nvPr/>
        </p:nvSpPr>
        <p:spPr>
          <a:xfrm>
            <a:off x="8983751" y="2907792"/>
            <a:ext cx="2613584" cy="365760"/>
          </a:xfrm>
          <a:prstGeom prst="rect">
            <a:avLst/>
          </a:prstGeom>
          <a:noFill/>
          <a:ln/>
        </p:spPr>
        <p:txBody>
          <a:bodyPr wrap="square" lIns="0" tIns="0" rIns="0" bIns="0" rtlCol="0" anchor="ctr"/>
          <a:lstStyle/>
          <a:p>
            <a:pPr algn="ctr" indent="0" marL="0">
              <a:buNone/>
            </a:pPr>
            <a:r>
              <a:rPr lang="en-US" sz="1400" b="1" dirty="0">
                <a:solidFill>
                  <a:srgbClr val="EAF1F7"/>
                </a:solidFill>
                <a:latin typeface="Calibri" pitchFamily="34" charset="0"/>
                <a:ea typeface="Calibri" pitchFamily="34" charset="-122"/>
                <a:cs typeface="Calibri" pitchFamily="34" charset="-120"/>
              </a:rPr>
              <a:t>Two Rejected Fixes, Reported</a:t>
            </a:r>
            <a:endParaRPr lang="en-US" sz="1400" dirty="0"/>
          </a:p>
        </p:txBody>
      </p:sp>
      <p:sp>
        <p:nvSpPr>
          <p:cNvPr id="26" name="Text 20"/>
          <p:cNvSpPr txBox="1"/>
          <p:nvPr/>
        </p:nvSpPr>
        <p:spPr>
          <a:xfrm>
            <a:off x="9002039" y="3291840"/>
            <a:ext cx="2577008" cy="777240"/>
          </a:xfrm>
          <a:prstGeom prst="rect">
            <a:avLst/>
          </a:prstGeom>
          <a:noFill/>
          <a:ln/>
        </p:spPr>
        <p:txBody>
          <a:bodyPr wrap="square" lIns="0" tIns="0" rIns="0" bIns="0" rtlCol="0" anchor="ctr"/>
          <a:lstStyle/>
          <a:p>
            <a:pPr algn="ctr" indent="0" marL="0">
              <a:lnSpc>
                <a:spcPct val="125000"/>
              </a:lnSpc>
              <a:buNone/>
            </a:pPr>
            <a:r>
              <a:rPr lang="en-US" sz="1050" dirty="0">
                <a:solidFill>
                  <a:srgbClr val="8EA3B8"/>
                </a:solidFill>
                <a:latin typeface="Calibri" pitchFamily="34" charset="0"/>
                <a:ea typeface="Calibri" pitchFamily="34" charset="-122"/>
                <a:cs typeface="Calibri" pitchFamily="34" charset="-120"/>
              </a:rPr>
              <a:t>Tested rigorously, found not to help, and disclosed anyway.</a:t>
            </a:r>
            <a:endParaRPr lang="en-US" sz="1050" dirty="0"/>
          </a:p>
        </p:txBody>
      </p:sp>
      <p:sp>
        <p:nvSpPr>
          <p:cNvPr id="27" name="Shape 21"/>
          <p:cNvSpPr/>
          <p:nvPr/>
        </p:nvSpPr>
        <p:spPr>
          <a:xfrm>
            <a:off x="9184919" y="4005072"/>
            <a:ext cx="2211248" cy="274320"/>
          </a:xfrm>
          <a:prstGeom prst="roundRect">
            <a:avLst>
              <a:gd name="adj" fmla="val 26667"/>
            </a:avLst>
          </a:prstGeom>
          <a:solidFill>
            <a:srgbClr val="3A1530"/>
          </a:solidFill>
          <a:ln/>
        </p:spPr>
      </p:sp>
      <p:sp>
        <p:nvSpPr>
          <p:cNvPr id="28" name="Text 22"/>
          <p:cNvSpPr txBox="1"/>
          <p:nvPr/>
        </p:nvSpPr>
        <p:spPr>
          <a:xfrm>
            <a:off x="9184919" y="4005072"/>
            <a:ext cx="2211248" cy="274320"/>
          </a:xfrm>
          <a:prstGeom prst="rect">
            <a:avLst/>
          </a:prstGeom>
          <a:noFill/>
          <a:ln/>
        </p:spPr>
        <p:txBody>
          <a:bodyPr wrap="square" lIns="0" tIns="0" rIns="0" bIns="0" rtlCol="0" anchor="ctr"/>
          <a:lstStyle/>
          <a:p>
            <a:pPr algn="ctr" indent="0" marL="0">
              <a:buNone/>
            </a:pPr>
            <a:r>
              <a:rPr lang="en-US" sz="900" b="1" dirty="0">
                <a:solidFill>
                  <a:srgbClr val="F472B6"/>
                </a:solidFill>
                <a:latin typeface="Calibri" pitchFamily="34" charset="0"/>
                <a:ea typeface="Calibri" pitchFamily="34" charset="-122"/>
                <a:cs typeface="Calibri" pitchFamily="34" charset="-120"/>
              </a:rPr>
              <a:t>Welch's method · Peak selection</a:t>
            </a:r>
            <a:endParaRPr lang="en-US" sz="900" dirty="0"/>
          </a:p>
        </p:txBody>
      </p:sp>
      <p:sp>
        <p:nvSpPr>
          <p:cNvPr id="29" name="Shape 23"/>
          <p:cNvSpPr/>
          <p:nvPr/>
        </p:nvSpPr>
        <p:spPr>
          <a:xfrm>
            <a:off x="502920" y="5486400"/>
            <a:ext cx="11185855" cy="658368"/>
          </a:xfrm>
          <a:prstGeom prst="roundRect">
            <a:avLst>
              <a:gd name="adj" fmla="val 16667"/>
            </a:avLst>
          </a:prstGeom>
          <a:solidFill>
            <a:srgbClr val="0A1A2C"/>
          </a:solidFill>
          <a:ln/>
        </p:spPr>
      </p:sp>
      <p:pic>
        <p:nvPicPr>
          <p:cNvPr id="30" name="Image 4" descr="C:\Users\tausif\CSE 754\pptx_work\assets\Trust_2DD4BF.png">    </p:cNvPr>
          <p:cNvPicPr>
            <a:picLocks noChangeAspect="1"/>
          </p:cNvPicPr>
          <p:nvPr/>
        </p:nvPicPr>
        <p:blipFill>
          <a:blip r:embed="rId5"/>
          <a:stretch>
            <a:fillRect/>
          </a:stretch>
        </p:blipFill>
        <p:spPr>
          <a:xfrm>
            <a:off x="704088" y="5678424"/>
            <a:ext cx="274320" cy="274320"/>
          </a:xfrm>
          <a:prstGeom prst="rect">
            <a:avLst/>
          </a:prstGeom>
        </p:spPr>
      </p:pic>
      <p:sp>
        <p:nvSpPr>
          <p:cNvPr id="31" name="Text 24"/>
          <p:cNvSpPr txBox="1"/>
          <p:nvPr/>
        </p:nvSpPr>
        <p:spPr>
          <a:xfrm>
            <a:off x="1143000" y="5532120"/>
            <a:ext cx="10271455" cy="566928"/>
          </a:xfrm>
          <a:prstGeom prst="rect">
            <a:avLst/>
          </a:prstGeom>
          <a:noFill/>
          <a:ln/>
        </p:spPr>
        <p:txBody>
          <a:bodyPr wrap="square" lIns="0" tIns="0" rIns="0" bIns="0" rtlCol="0" anchor="ctr"/>
          <a:lstStyle/>
          <a:p>
            <a:pPr indent="0" marL="0">
              <a:lnSpc>
                <a:spcPct val="115000"/>
              </a:lnSpc>
              <a:buNone/>
            </a:pPr>
            <a:r>
              <a:rPr lang="en-US" sz="1450" dirty="0">
                <a:solidFill>
                  <a:srgbClr val="EAF1F7"/>
                </a:solidFill>
                <a:latin typeface="Calibri" pitchFamily="34" charset="0"/>
                <a:ea typeface="Calibri" pitchFamily="34" charset="-122"/>
                <a:cs typeface="Calibri" pitchFamily="34" charset="-120"/>
              </a:rPr>
              <a:t>The core takeaway: a fairness or robustness number is only as trustworthy as the pipeline behind it.</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1420"/>
        </a:solidFill>
      </p:bgPr>
    </p:bg>
    <p:spTree>
      <p:nvGrpSpPr>
        <p:cNvPr id="1" name=""/>
        <p:cNvGrpSpPr/>
        <p:nvPr/>
      </p:nvGrpSpPr>
      <p:grpSpPr>
        <a:xfrm>
          <a:off x="0" y="0"/>
          <a:ext cx="0" cy="0"/>
          <a:chOff x="0" y="0"/>
          <a:chExt cx="0" cy="0"/>
        </a:xfrm>
      </p:grpSpPr>
      <p:sp>
        <p:nvSpPr>
          <p:cNvPr id="2" name="Text 0"/>
          <p:cNvSpPr txBox="1"/>
          <p:nvPr/>
        </p:nvSpPr>
        <p:spPr>
          <a:xfrm>
            <a:off x="502920" y="365760"/>
            <a:ext cx="11185855" cy="292608"/>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05 · LIMITATIONS &amp; NEXT STEPS</a:t>
            </a:r>
            <a:endParaRPr lang="en-US" sz="1200" dirty="0"/>
          </a:p>
        </p:txBody>
      </p:sp>
      <p:sp>
        <p:nvSpPr>
          <p:cNvPr id="3" name="Text 1"/>
          <p:cNvSpPr txBox="1"/>
          <p:nvPr/>
        </p:nvSpPr>
        <p:spPr>
          <a:xfrm>
            <a:off x="502920" y="658368"/>
            <a:ext cx="11185855" cy="822960"/>
          </a:xfrm>
          <a:prstGeom prst="rect">
            <a:avLst/>
          </a:prstGeom>
          <a:noFill/>
          <a:ln/>
        </p:spPr>
        <p:txBody>
          <a:bodyPr wrap="square" lIns="0" tIns="0" rIns="0" bIns="0" rtlCol="0" anchor="t"/>
          <a:lstStyle/>
          <a:p>
            <a:pPr indent="0" marL="0">
              <a:lnSpc>
                <a:spcPct val="105000"/>
              </a:lnSpc>
              <a:buNone/>
            </a:pPr>
            <a:r>
              <a:rPr lang="en-US" sz="2700" b="1" dirty="0">
                <a:solidFill>
                  <a:srgbClr val="EAF1F7"/>
                </a:solidFill>
                <a:latin typeface="Calibri" pitchFamily="34" charset="0"/>
                <a:ea typeface="Calibri" pitchFamily="34" charset="-122"/>
                <a:cs typeface="Calibri" pitchFamily="34" charset="-120"/>
              </a:rPr>
              <a:t>Limitations and Future Directions</a:t>
            </a:r>
            <a:endParaRPr lang="en-US" sz="2700" dirty="0"/>
          </a:p>
        </p:txBody>
      </p:sp>
      <p:sp>
        <p:nvSpPr>
          <p:cNvPr id="4" name="Shape 2"/>
          <p:cNvSpPr/>
          <p:nvPr/>
        </p:nvSpPr>
        <p:spPr>
          <a:xfrm>
            <a:off x="502920" y="1874520"/>
            <a:ext cx="5364328" cy="658368"/>
          </a:xfrm>
          <a:prstGeom prst="roundRect">
            <a:avLst>
              <a:gd name="adj" fmla="val 16667"/>
            </a:avLst>
          </a:prstGeom>
          <a:solidFill>
            <a:srgbClr val="0D1E30"/>
          </a:solidFill>
          <a:ln/>
        </p:spPr>
      </p:sp>
      <p:pic>
        <p:nvPicPr>
          <p:cNvPr id="5" name="Image 0" descr="C:\Users\tausif\CSE 754\pptx_work\assets\Warning_F87171.png">    </p:cNvPr>
          <p:cNvPicPr>
            <a:picLocks noChangeAspect="1"/>
          </p:cNvPicPr>
          <p:nvPr/>
        </p:nvPicPr>
        <p:blipFill>
          <a:blip r:embed="rId1"/>
          <a:stretch>
            <a:fillRect/>
          </a:stretch>
        </p:blipFill>
        <p:spPr>
          <a:xfrm>
            <a:off x="704088" y="2057400"/>
            <a:ext cx="292608" cy="292608"/>
          </a:xfrm>
          <a:prstGeom prst="rect">
            <a:avLst/>
          </a:prstGeom>
        </p:spPr>
      </p:pic>
      <p:sp>
        <p:nvSpPr>
          <p:cNvPr id="6" name="Text 3"/>
          <p:cNvSpPr txBox="1"/>
          <p:nvPr/>
        </p:nvSpPr>
        <p:spPr>
          <a:xfrm>
            <a:off x="1124712" y="1920240"/>
            <a:ext cx="4541368" cy="566928"/>
          </a:xfrm>
          <a:prstGeom prst="rect">
            <a:avLst/>
          </a:prstGeom>
          <a:noFill/>
          <a:ln/>
        </p:spPr>
        <p:txBody>
          <a:bodyPr wrap="square" lIns="0" tIns="0" rIns="0" bIns="0" rtlCol="0" anchor="ctr"/>
          <a:lstStyle/>
          <a:p>
            <a:pPr indent="0" marL="0">
              <a:lnSpc>
                <a:spcPct val="115000"/>
              </a:lnSpc>
              <a:buNone/>
            </a:pPr>
            <a:r>
              <a:rPr lang="en-US" sz="1250" dirty="0">
                <a:solidFill>
                  <a:srgbClr val="EAF1F7"/>
                </a:solidFill>
                <a:latin typeface="Calibri" pitchFamily="34" charset="0"/>
                <a:ea typeface="Calibri" pitchFamily="34" charset="-122"/>
                <a:cs typeface="Calibri" pitchFamily="34" charset="-120"/>
              </a:rPr>
              <a:t>Skin-tone fairness axis untested: no such metadata in the data we obtained</a:t>
            </a:r>
            <a:endParaRPr lang="en-US" sz="1250" dirty="0"/>
          </a:p>
        </p:txBody>
      </p:sp>
      <p:sp>
        <p:nvSpPr>
          <p:cNvPr id="7" name="Shape 4"/>
          <p:cNvSpPr/>
          <p:nvPr/>
        </p:nvSpPr>
        <p:spPr>
          <a:xfrm>
            <a:off x="5940400" y="2130552"/>
            <a:ext cx="310896" cy="146304"/>
          </a:xfrm>
          <a:prstGeom prst="rightArrow">
            <a:avLst/>
          </a:prstGeom>
          <a:solidFill>
            <a:srgbClr val="2A4A63"/>
          </a:solidFill>
          <a:ln/>
        </p:spPr>
      </p:sp>
      <p:sp>
        <p:nvSpPr>
          <p:cNvPr id="8" name="Shape 5"/>
          <p:cNvSpPr/>
          <p:nvPr/>
        </p:nvSpPr>
        <p:spPr>
          <a:xfrm>
            <a:off x="6324448" y="1874520"/>
            <a:ext cx="5364328" cy="658368"/>
          </a:xfrm>
          <a:prstGeom prst="roundRect">
            <a:avLst>
              <a:gd name="adj" fmla="val 16667"/>
            </a:avLst>
          </a:prstGeom>
          <a:solidFill>
            <a:srgbClr val="0D1E30"/>
          </a:solidFill>
          <a:ln/>
        </p:spPr>
      </p:sp>
      <p:pic>
        <p:nvPicPr>
          <p:cNvPr id="9" name="Image 1" descr="C:\Users\tausif\CSE 754\pptx_work\assets\Chart_2DD4BF.png">    </p:cNvPr>
          <p:cNvPicPr>
            <a:picLocks noChangeAspect="1"/>
          </p:cNvPicPr>
          <p:nvPr/>
        </p:nvPicPr>
        <p:blipFill>
          <a:blip r:embed="rId2"/>
          <a:stretch>
            <a:fillRect/>
          </a:stretch>
        </p:blipFill>
        <p:spPr>
          <a:xfrm>
            <a:off x="6525616" y="2057400"/>
            <a:ext cx="292608" cy="292608"/>
          </a:xfrm>
          <a:prstGeom prst="rect">
            <a:avLst/>
          </a:prstGeom>
        </p:spPr>
      </p:pic>
      <p:sp>
        <p:nvSpPr>
          <p:cNvPr id="10" name="Text 6"/>
          <p:cNvSpPr txBox="1"/>
          <p:nvPr/>
        </p:nvSpPr>
        <p:spPr>
          <a:xfrm>
            <a:off x="6946240" y="1920240"/>
            <a:ext cx="4541368" cy="566928"/>
          </a:xfrm>
          <a:prstGeom prst="rect">
            <a:avLst/>
          </a:prstGeom>
          <a:noFill/>
          <a:ln/>
        </p:spPr>
        <p:txBody>
          <a:bodyPr wrap="square" lIns="0" tIns="0" rIns="0" bIns="0" rtlCol="0" anchor="ctr"/>
          <a:lstStyle/>
          <a:p>
            <a:pPr indent="0" marL="0">
              <a:lnSpc>
                <a:spcPct val="115000"/>
              </a:lnSpc>
              <a:buNone/>
            </a:pPr>
            <a:r>
              <a:rPr lang="en-US" sz="1250" dirty="0">
                <a:solidFill>
                  <a:srgbClr val="EAF1F7"/>
                </a:solidFill>
                <a:latin typeface="Calibri" pitchFamily="34" charset="0"/>
                <a:ea typeface="Calibri" pitchFamily="34" charset="-122"/>
                <a:cs typeface="Calibri" pitchFamily="34" charset="-120"/>
              </a:rPr>
              <a:t>Acquire MMPD / EquiPleth for the originally planned skin-tone audit</a:t>
            </a:r>
            <a:endParaRPr lang="en-US" sz="1250" dirty="0"/>
          </a:p>
        </p:txBody>
      </p:sp>
      <p:sp>
        <p:nvSpPr>
          <p:cNvPr id="11" name="Shape 7"/>
          <p:cNvSpPr/>
          <p:nvPr/>
        </p:nvSpPr>
        <p:spPr>
          <a:xfrm>
            <a:off x="502920" y="2697480"/>
            <a:ext cx="5364328" cy="658368"/>
          </a:xfrm>
          <a:prstGeom prst="roundRect">
            <a:avLst>
              <a:gd name="adj" fmla="val 16667"/>
            </a:avLst>
          </a:prstGeom>
          <a:solidFill>
            <a:srgbClr val="0D1E30"/>
          </a:solidFill>
          <a:ln/>
        </p:spPr>
      </p:sp>
      <p:pic>
        <p:nvPicPr>
          <p:cNvPr id="12" name="Image 2" descr="C:\Users\tausif\CSE 754\pptx_work\assets\Warning_F87171.png">    </p:cNvPr>
          <p:cNvPicPr>
            <a:picLocks noChangeAspect="1"/>
          </p:cNvPicPr>
          <p:nvPr/>
        </p:nvPicPr>
        <p:blipFill>
          <a:blip r:embed="rId3"/>
          <a:stretch>
            <a:fillRect/>
          </a:stretch>
        </p:blipFill>
        <p:spPr>
          <a:xfrm>
            <a:off x="704088" y="2880360"/>
            <a:ext cx="292608" cy="292608"/>
          </a:xfrm>
          <a:prstGeom prst="rect">
            <a:avLst/>
          </a:prstGeom>
        </p:spPr>
      </p:pic>
      <p:sp>
        <p:nvSpPr>
          <p:cNvPr id="13" name="Text 8"/>
          <p:cNvSpPr txBox="1"/>
          <p:nvPr/>
        </p:nvSpPr>
        <p:spPr>
          <a:xfrm>
            <a:off x="1124712" y="2743200"/>
            <a:ext cx="4541368" cy="566928"/>
          </a:xfrm>
          <a:prstGeom prst="rect">
            <a:avLst/>
          </a:prstGeom>
          <a:noFill/>
          <a:ln/>
        </p:spPr>
        <p:txBody>
          <a:bodyPr wrap="square" lIns="0" tIns="0" rIns="0" bIns="0" rtlCol="0" anchor="ctr"/>
          <a:lstStyle/>
          <a:p>
            <a:pPr indent="0" marL="0">
              <a:lnSpc>
                <a:spcPct val="115000"/>
              </a:lnSpc>
              <a:buNone/>
            </a:pPr>
            <a:r>
              <a:rPr lang="en-US" sz="1250" dirty="0">
                <a:solidFill>
                  <a:srgbClr val="EAF1F7"/>
                </a:solidFill>
                <a:latin typeface="Calibri" pitchFamily="34" charset="0"/>
                <a:ea typeface="Calibri" pitchFamily="34" charset="-122"/>
                <a:cs typeface="Calibri" pitchFamily="34" charset="-120"/>
              </a:rPr>
              <a:t>One PhysNet regression on the older dataset remains unresolved</a:t>
            </a:r>
            <a:endParaRPr lang="en-US" sz="1250" dirty="0"/>
          </a:p>
        </p:txBody>
      </p:sp>
      <p:sp>
        <p:nvSpPr>
          <p:cNvPr id="14" name="Shape 9"/>
          <p:cNvSpPr/>
          <p:nvPr/>
        </p:nvSpPr>
        <p:spPr>
          <a:xfrm>
            <a:off x="5940400" y="2953512"/>
            <a:ext cx="310896" cy="146304"/>
          </a:xfrm>
          <a:prstGeom prst="rightArrow">
            <a:avLst/>
          </a:prstGeom>
          <a:solidFill>
            <a:srgbClr val="2A4A63"/>
          </a:solidFill>
          <a:ln/>
        </p:spPr>
      </p:sp>
      <p:sp>
        <p:nvSpPr>
          <p:cNvPr id="15" name="Shape 10"/>
          <p:cNvSpPr/>
          <p:nvPr/>
        </p:nvSpPr>
        <p:spPr>
          <a:xfrm>
            <a:off x="6324448" y="2697480"/>
            <a:ext cx="5364328" cy="658368"/>
          </a:xfrm>
          <a:prstGeom prst="roundRect">
            <a:avLst>
              <a:gd name="adj" fmla="val 16667"/>
            </a:avLst>
          </a:prstGeom>
          <a:solidFill>
            <a:srgbClr val="0D1E30"/>
          </a:solidFill>
          <a:ln/>
        </p:spPr>
      </p:sp>
      <p:pic>
        <p:nvPicPr>
          <p:cNvPr id="16" name="Image 3" descr="C:\Users\tausif\CSE 754\pptx_work\assets\Tool_2DD4BF.png">    </p:cNvPr>
          <p:cNvPicPr>
            <a:picLocks noChangeAspect="1"/>
          </p:cNvPicPr>
          <p:nvPr/>
        </p:nvPicPr>
        <p:blipFill>
          <a:blip r:embed="rId4"/>
          <a:stretch>
            <a:fillRect/>
          </a:stretch>
        </p:blipFill>
        <p:spPr>
          <a:xfrm>
            <a:off x="6525616" y="2880360"/>
            <a:ext cx="292608" cy="292608"/>
          </a:xfrm>
          <a:prstGeom prst="rect">
            <a:avLst/>
          </a:prstGeom>
        </p:spPr>
      </p:pic>
      <p:sp>
        <p:nvSpPr>
          <p:cNvPr id="17" name="Text 11"/>
          <p:cNvSpPr txBox="1"/>
          <p:nvPr/>
        </p:nvSpPr>
        <p:spPr>
          <a:xfrm>
            <a:off x="6946240" y="2743200"/>
            <a:ext cx="4541368" cy="566928"/>
          </a:xfrm>
          <a:prstGeom prst="rect">
            <a:avLst/>
          </a:prstGeom>
          <a:noFill/>
          <a:ln/>
        </p:spPr>
        <p:txBody>
          <a:bodyPr wrap="square" lIns="0" tIns="0" rIns="0" bIns="0" rtlCol="0" anchor="ctr"/>
          <a:lstStyle/>
          <a:p>
            <a:pPr indent="0" marL="0">
              <a:lnSpc>
                <a:spcPct val="115000"/>
              </a:lnSpc>
              <a:buNone/>
            </a:pPr>
            <a:r>
              <a:rPr lang="en-US" sz="1250" dirty="0">
                <a:solidFill>
                  <a:srgbClr val="EAF1F7"/>
                </a:solidFill>
                <a:latin typeface="Calibri" pitchFamily="34" charset="0"/>
                <a:ea typeface="Calibri" pitchFamily="34" charset="-122"/>
                <a:cs typeface="Calibri" pitchFamily="34" charset="-120"/>
              </a:rPr>
              <a:t>Diagnose the remaining PhysNet crop-mismatch directly</a:t>
            </a:r>
            <a:endParaRPr lang="en-US" sz="1250" dirty="0"/>
          </a:p>
        </p:txBody>
      </p:sp>
      <p:sp>
        <p:nvSpPr>
          <p:cNvPr id="18" name="Shape 12"/>
          <p:cNvSpPr/>
          <p:nvPr/>
        </p:nvSpPr>
        <p:spPr>
          <a:xfrm>
            <a:off x="502920" y="3520440"/>
            <a:ext cx="5364328" cy="658368"/>
          </a:xfrm>
          <a:prstGeom prst="roundRect">
            <a:avLst>
              <a:gd name="adj" fmla="val 16667"/>
            </a:avLst>
          </a:prstGeom>
          <a:solidFill>
            <a:srgbClr val="0D1E30"/>
          </a:solidFill>
          <a:ln/>
        </p:spPr>
      </p:sp>
      <p:pic>
        <p:nvPicPr>
          <p:cNvPr id="19" name="Image 4" descr="C:\Users\tausif\CSE 754\pptx_work\assets\Warning_F87171.png">    </p:cNvPr>
          <p:cNvPicPr>
            <a:picLocks noChangeAspect="1"/>
          </p:cNvPicPr>
          <p:nvPr/>
        </p:nvPicPr>
        <p:blipFill>
          <a:blip r:embed="rId5"/>
          <a:stretch>
            <a:fillRect/>
          </a:stretch>
        </p:blipFill>
        <p:spPr>
          <a:xfrm>
            <a:off x="704088" y="3703320"/>
            <a:ext cx="292608" cy="292608"/>
          </a:xfrm>
          <a:prstGeom prst="rect">
            <a:avLst/>
          </a:prstGeom>
        </p:spPr>
      </p:pic>
      <p:sp>
        <p:nvSpPr>
          <p:cNvPr id="20" name="Text 13"/>
          <p:cNvSpPr txBox="1"/>
          <p:nvPr/>
        </p:nvSpPr>
        <p:spPr>
          <a:xfrm>
            <a:off x="1124712" y="3566160"/>
            <a:ext cx="4541368" cy="566928"/>
          </a:xfrm>
          <a:prstGeom prst="rect">
            <a:avLst/>
          </a:prstGeom>
          <a:noFill/>
          <a:ln/>
        </p:spPr>
        <p:txBody>
          <a:bodyPr wrap="square" lIns="0" tIns="0" rIns="0" bIns="0" rtlCol="0" anchor="ctr"/>
          <a:lstStyle/>
          <a:p>
            <a:pPr indent="0" marL="0">
              <a:lnSpc>
                <a:spcPct val="115000"/>
              </a:lnSpc>
              <a:buNone/>
            </a:pPr>
            <a:r>
              <a:rPr lang="en-US" sz="1250" dirty="0">
                <a:solidFill>
                  <a:srgbClr val="EAF1F7"/>
                </a:solidFill>
                <a:latin typeface="Calibri" pitchFamily="34" charset="0"/>
                <a:ea typeface="Calibri" pitchFamily="34" charset="-122"/>
                <a:cs typeface="Calibri" pitchFamily="34" charset="-120"/>
              </a:rPr>
              <a:t>n=4 test / n=1 exercise: directional, not statistically powered</a:t>
            </a:r>
            <a:endParaRPr lang="en-US" sz="1250" dirty="0"/>
          </a:p>
        </p:txBody>
      </p:sp>
      <p:sp>
        <p:nvSpPr>
          <p:cNvPr id="21" name="Shape 14"/>
          <p:cNvSpPr/>
          <p:nvPr/>
        </p:nvSpPr>
        <p:spPr>
          <a:xfrm>
            <a:off x="5940400" y="3776472"/>
            <a:ext cx="310896" cy="146304"/>
          </a:xfrm>
          <a:prstGeom prst="rightArrow">
            <a:avLst/>
          </a:prstGeom>
          <a:solidFill>
            <a:srgbClr val="2A4A63"/>
          </a:solidFill>
          <a:ln/>
        </p:spPr>
      </p:sp>
      <p:sp>
        <p:nvSpPr>
          <p:cNvPr id="22" name="Shape 15"/>
          <p:cNvSpPr/>
          <p:nvPr/>
        </p:nvSpPr>
        <p:spPr>
          <a:xfrm>
            <a:off x="6324448" y="3520440"/>
            <a:ext cx="5364328" cy="658368"/>
          </a:xfrm>
          <a:prstGeom prst="roundRect">
            <a:avLst>
              <a:gd name="adj" fmla="val 16667"/>
            </a:avLst>
          </a:prstGeom>
          <a:solidFill>
            <a:srgbClr val="0D1E30"/>
          </a:solidFill>
          <a:ln/>
        </p:spPr>
      </p:sp>
      <p:pic>
        <p:nvPicPr>
          <p:cNvPr id="23" name="Image 5" descr="C:\Users\tausif\CSE 754\pptx_work\assets\Verified_2DD4BF.png">    </p:cNvPr>
          <p:cNvPicPr>
            <a:picLocks noChangeAspect="1"/>
          </p:cNvPicPr>
          <p:nvPr/>
        </p:nvPicPr>
        <p:blipFill>
          <a:blip r:embed="rId6"/>
          <a:stretch>
            <a:fillRect/>
          </a:stretch>
        </p:blipFill>
        <p:spPr>
          <a:xfrm>
            <a:off x="6525616" y="3703320"/>
            <a:ext cx="292608" cy="292608"/>
          </a:xfrm>
          <a:prstGeom prst="rect">
            <a:avLst/>
          </a:prstGeom>
        </p:spPr>
      </p:pic>
      <p:sp>
        <p:nvSpPr>
          <p:cNvPr id="24" name="Text 16"/>
          <p:cNvSpPr txBox="1"/>
          <p:nvPr/>
        </p:nvSpPr>
        <p:spPr>
          <a:xfrm>
            <a:off x="6946240" y="3566160"/>
            <a:ext cx="4541368" cy="566928"/>
          </a:xfrm>
          <a:prstGeom prst="rect">
            <a:avLst/>
          </a:prstGeom>
          <a:noFill/>
          <a:ln/>
        </p:spPr>
        <p:txBody>
          <a:bodyPr wrap="square" lIns="0" tIns="0" rIns="0" bIns="0" rtlCol="0" anchor="ctr"/>
          <a:lstStyle/>
          <a:p>
            <a:pPr indent="0" marL="0">
              <a:lnSpc>
                <a:spcPct val="115000"/>
              </a:lnSpc>
              <a:buNone/>
            </a:pPr>
            <a:r>
              <a:rPr lang="en-US" sz="1250" dirty="0">
                <a:solidFill>
                  <a:srgbClr val="EAF1F7"/>
                </a:solidFill>
                <a:latin typeface="Calibri" pitchFamily="34" charset="0"/>
                <a:ea typeface="Calibri" pitchFamily="34" charset="-122"/>
                <a:cs typeface="Calibri" pitchFamily="34" charset="-120"/>
              </a:rPr>
              <a:t>Turn our rigor checks into a reusable checklist for future audits</a:t>
            </a:r>
            <a:endParaRPr lang="en-US" sz="1250" dirty="0"/>
          </a:p>
        </p:txBody>
      </p:sp>
      <p:sp>
        <p:nvSpPr>
          <p:cNvPr id="25" name="Shape 17"/>
          <p:cNvSpPr/>
          <p:nvPr/>
        </p:nvSpPr>
        <p:spPr>
          <a:xfrm>
            <a:off x="502920" y="4526280"/>
            <a:ext cx="11185855" cy="658368"/>
          </a:xfrm>
          <a:prstGeom prst="roundRect">
            <a:avLst>
              <a:gd name="adj" fmla="val 16667"/>
            </a:avLst>
          </a:prstGeom>
          <a:solidFill>
            <a:srgbClr val="0A1A2C"/>
          </a:solidFill>
          <a:ln/>
        </p:spPr>
      </p:sp>
      <p:pic>
        <p:nvPicPr>
          <p:cNvPr id="26" name="Image 6" descr="C:\Users\tausif\CSE 754\pptx_work\assets\Lightbulb_2DD4BF.png">    </p:cNvPr>
          <p:cNvPicPr>
            <a:picLocks noChangeAspect="1"/>
          </p:cNvPicPr>
          <p:nvPr/>
        </p:nvPicPr>
        <p:blipFill>
          <a:blip r:embed="rId7"/>
          <a:stretch>
            <a:fillRect/>
          </a:stretch>
        </p:blipFill>
        <p:spPr>
          <a:xfrm>
            <a:off x="704088" y="4718304"/>
            <a:ext cx="274320" cy="274320"/>
          </a:xfrm>
          <a:prstGeom prst="rect">
            <a:avLst/>
          </a:prstGeom>
        </p:spPr>
      </p:pic>
      <p:sp>
        <p:nvSpPr>
          <p:cNvPr id="27" name="Text 18"/>
          <p:cNvSpPr txBox="1"/>
          <p:nvPr/>
        </p:nvSpPr>
        <p:spPr>
          <a:xfrm>
            <a:off x="1143000" y="4572000"/>
            <a:ext cx="10271455" cy="566928"/>
          </a:xfrm>
          <a:prstGeom prst="rect">
            <a:avLst/>
          </a:prstGeom>
          <a:noFill/>
          <a:ln/>
        </p:spPr>
        <p:txBody>
          <a:bodyPr wrap="square" lIns="0" tIns="0" rIns="0" bIns="0" rtlCol="0" anchor="ctr"/>
          <a:lstStyle/>
          <a:p>
            <a:pPr indent="0" marL="0">
              <a:lnSpc>
                <a:spcPct val="115000"/>
              </a:lnSpc>
              <a:buNone/>
            </a:pPr>
            <a:r>
              <a:rPr lang="en-US" sz="1400" dirty="0">
                <a:solidFill>
                  <a:srgbClr val="EAF1F7"/>
                </a:solidFill>
                <a:latin typeface="Calibri" pitchFamily="34" charset="0"/>
                <a:ea typeface="Calibri" pitchFamily="34" charset="-122"/>
                <a:cs typeface="Calibri" pitchFamily="34" charset="-120"/>
              </a:rPr>
              <a:t>Every limitation on the left has a concrete next step on the right: none of them undermine what we did establish.</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81420"/>
        </a:solidFill>
      </p:bgPr>
    </p:bg>
    <p:spTree>
      <p:nvGrpSpPr>
        <p:cNvPr id="1" name=""/>
        <p:cNvGrpSpPr/>
        <p:nvPr/>
      </p:nvGrpSpPr>
      <p:grpSpPr>
        <a:xfrm>
          <a:off x="0" y="0"/>
          <a:ext cx="0" cy="0"/>
          <a:chOff x="0" y="0"/>
          <a:chExt cx="0" cy="0"/>
        </a:xfrm>
      </p:grpSpPr>
      <p:sp>
        <p:nvSpPr>
          <p:cNvPr id="2" name="Shape 0"/>
          <p:cNvSpPr/>
          <p:nvPr/>
        </p:nvSpPr>
        <p:spPr>
          <a:xfrm>
            <a:off x="5410048" y="1280160"/>
            <a:ext cx="1371600" cy="1371600"/>
          </a:xfrm>
          <a:prstGeom prst="ellipse">
            <a:avLst/>
          </a:prstGeom>
          <a:solidFill>
            <a:srgbClr val="0D1E30"/>
          </a:solidFill>
          <a:ln w="19050">
            <a:solidFill>
              <a:srgbClr val="38BDF8"/>
            </a:solidFill>
            <a:prstDash val="solid"/>
          </a:ln>
        </p:spPr>
      </p:sp>
      <p:pic>
        <p:nvPicPr>
          <p:cNvPr id="3" name="Image 0" descr="C:\Users\tausif\CSE 754\pptx_work\assets\Users_38BDF8.png">    </p:cNvPr>
          <p:cNvPicPr>
            <a:picLocks noChangeAspect="1"/>
          </p:cNvPicPr>
          <p:nvPr/>
        </p:nvPicPr>
        <p:blipFill>
          <a:blip r:embed="rId1"/>
          <a:stretch>
            <a:fillRect/>
          </a:stretch>
        </p:blipFill>
        <p:spPr>
          <a:xfrm>
            <a:off x="5780380" y="1650492"/>
            <a:ext cx="630936" cy="630936"/>
          </a:xfrm>
          <a:prstGeom prst="rect">
            <a:avLst/>
          </a:prstGeom>
        </p:spPr>
      </p:pic>
      <p:sp>
        <p:nvSpPr>
          <p:cNvPr id="4" name="Text 1"/>
          <p:cNvSpPr txBox="1"/>
          <p:nvPr/>
        </p:nvSpPr>
        <p:spPr>
          <a:xfrm>
            <a:off x="0" y="2834640"/>
            <a:ext cx="12191695" cy="914400"/>
          </a:xfrm>
          <a:prstGeom prst="rect">
            <a:avLst/>
          </a:prstGeom>
          <a:noFill/>
          <a:ln/>
        </p:spPr>
        <p:txBody>
          <a:bodyPr wrap="square" lIns="0" tIns="0" rIns="0" bIns="0" rtlCol="0" anchor="ctr"/>
          <a:lstStyle/>
          <a:p>
            <a:pPr algn="ctr" indent="0" marL="0">
              <a:buNone/>
            </a:pPr>
            <a:r>
              <a:rPr lang="en-US" sz="4600" b="1" dirty="0">
                <a:solidFill>
                  <a:srgbClr val="EAF1F7"/>
                </a:solidFill>
                <a:latin typeface="Calibri" pitchFamily="34" charset="0"/>
                <a:ea typeface="Calibri" pitchFamily="34" charset="-122"/>
                <a:cs typeface="Calibri" pitchFamily="34" charset="-120"/>
              </a:rPr>
              <a:t>Thank you</a:t>
            </a:r>
            <a:endParaRPr lang="en-US" sz="4600" dirty="0"/>
          </a:p>
        </p:txBody>
      </p:sp>
      <p:sp>
        <p:nvSpPr>
          <p:cNvPr id="5" name="Text 2"/>
          <p:cNvSpPr txBox="1"/>
          <p:nvPr/>
        </p:nvSpPr>
        <p:spPr>
          <a:xfrm>
            <a:off x="1981048" y="3794760"/>
            <a:ext cx="8229600" cy="548640"/>
          </a:xfrm>
          <a:prstGeom prst="rect">
            <a:avLst/>
          </a:prstGeom>
          <a:noFill/>
          <a:ln/>
        </p:spPr>
        <p:txBody>
          <a:bodyPr wrap="square" lIns="0" tIns="0" rIns="0" bIns="0" rtlCol="0" anchor="ctr"/>
          <a:lstStyle/>
          <a:p>
            <a:pPr algn="ctr" indent="0" marL="0">
              <a:buNone/>
            </a:pPr>
            <a:r>
              <a:rPr lang="en-US" sz="1600" i="1" dirty="0">
                <a:solidFill>
                  <a:srgbClr val="8EA3B8"/>
                </a:solidFill>
                <a:latin typeface="Calibri" pitchFamily="34" charset="0"/>
                <a:ea typeface="Calibri" pitchFamily="34" charset="-122"/>
                <a:cs typeface="Calibri" pitchFamily="34" charset="-120"/>
              </a:rPr>
              <a:t>A fairness or robustness claim is only as trustworthy as the pipeline behind it.</a:t>
            </a:r>
            <a:endParaRPr lang="en-US" sz="1600" dirty="0"/>
          </a:p>
        </p:txBody>
      </p:sp>
      <p:sp>
        <p:nvSpPr>
          <p:cNvPr id="6" name="Text 3"/>
          <p:cNvSpPr txBox="1"/>
          <p:nvPr/>
        </p:nvSpPr>
        <p:spPr>
          <a:xfrm>
            <a:off x="0" y="4663440"/>
            <a:ext cx="12191695" cy="365760"/>
          </a:xfrm>
          <a:prstGeom prst="rect">
            <a:avLst/>
          </a:prstGeom>
          <a:noFill/>
          <a:ln/>
        </p:spPr>
        <p:txBody>
          <a:bodyPr wrap="square" lIns="0" tIns="0" rIns="0" bIns="0" rtlCol="0" anchor="ctr"/>
          <a:lstStyle/>
          <a:p>
            <a:pPr algn="ctr" indent="0" marL="0">
              <a:buNone/>
            </a:pPr>
            <a:r>
              <a:rPr lang="en-US" sz="1300" dirty="0">
                <a:solidFill>
                  <a:srgbClr val="8EA3B8"/>
                </a:solidFill>
                <a:latin typeface="Calibri" pitchFamily="34" charset="0"/>
                <a:ea typeface="Calibri" pitchFamily="34" charset="-122"/>
                <a:cs typeface="Calibri" pitchFamily="34" charset="-120"/>
              </a:rPr>
              <a:t>Noshin Tabassum Arthi      Samin Ahsan Tausif      Supervisor: Dr. Md. Ashraful Alam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2026-09-20T16:36:07Z</dcterms:created>
  <dcterms:modified xsi:type="dcterms:W3CDTF">2026-09-20T16:36:07Z</dcterms:modified>
</cp:coreProperties>
</file>